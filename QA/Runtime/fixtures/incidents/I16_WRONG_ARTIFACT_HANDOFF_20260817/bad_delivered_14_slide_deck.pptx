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51792" y="0"/>
            <a:ext cx="137160" cy="6858000"/>
          </a:xfrm>
          <a:prstGeom prst="rect">
            <a:avLst/>
          </a:prstGeom>
          <a:solidFill>
            <a:srgbClr val="A42365"/>
          </a:solidFill>
          <a:ln w="12700">
            <a:solidFill>
              <a:srgbClr val="A42365"/>
            </a:solidFill>
            <a:prstDash val="solid"/>
          </a:ln>
        </p:spPr>
      </p:sp>
      <p:pic>
        <p:nvPicPr>
          <p:cNvPr id="3" name="Image 0" descr="/mnt/data/rashad_current/Rashad/Skill/08_BRAND_CURRENT/assets/rubix-consulting-current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10312"/>
            <a:ext cx="1417320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55280" y="256032"/>
            <a:ext cx="32004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77381"/>
                </a:solidFill>
              </a:rPr>
              <a:t>HOST-NATIVE TRACE · ARTIFACT_DRAFT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11480" y="6510528"/>
            <a:ext cx="20116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42365"/>
                </a:solidFill>
              </a:rPr>
              <a:t>DRAFT — NOT RELEASED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01984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01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85800" y="1051560"/>
            <a:ext cx="3840480" cy="3840480"/>
          </a:xfrm>
          <a:prstGeom prst="arc">
            <a:avLst/>
          </a:prstGeom>
          <a:noFill/>
          <a:ln w="38100">
            <a:solidFill>
              <a:srgbClr val="A42365">
                <a:alpha val="95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34440" y="1600200"/>
            <a:ext cx="2743200" cy="2743200"/>
          </a:xfrm>
          <a:prstGeom prst="arc">
            <a:avLst/>
          </a:prstGeom>
          <a:noFill/>
          <a:ln w="25400">
            <a:solidFill>
              <a:srgbClr val="077381">
                <a:alpha val="8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88720" y="2423160"/>
            <a:ext cx="288036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71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171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5989320" y="1188720"/>
            <a:ext cx="53949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773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ملخص تنفيذي للمنافسة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989320" y="1600200"/>
            <a:ext cx="539496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3500" b="1" dirty="0">
                <a:solidFill>
                  <a:srgbClr val="171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مشروع ابتكار</a:t>
            </a:r>
            <a:endParaRPr lang="en-US" sz="3500" dirty="0"/>
          </a:p>
          <a:p>
            <a:pPr algn="r" indent="0" marL="0">
              <a:buNone/>
            </a:pPr>
            <a:r>
              <a:rPr lang="en-US" sz="3500" b="1" dirty="0">
                <a:solidFill>
                  <a:srgbClr val="171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والثقافة الرقمية</a:t>
            </a:r>
            <a:endParaRPr lang="en-US" sz="3500" dirty="0"/>
          </a:p>
        </p:txBody>
      </p:sp>
      <p:sp>
        <p:nvSpPr>
          <p:cNvPr id="12" name="Text 9"/>
          <p:cNvSpPr/>
          <p:nvPr/>
        </p:nvSpPr>
        <p:spPr>
          <a:xfrm>
            <a:off x="5989320" y="2926080"/>
            <a:ext cx="512064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5C5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صندوق التنمية العقارية · قراءة قرار الدخول وحجم الالتزام ومتطلبات الفوز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989320" y="3749040"/>
            <a:ext cx="3657600" cy="0"/>
          </a:xfrm>
          <a:prstGeom prst="line">
            <a:avLst/>
          </a:prstGeom>
          <a:noFill/>
          <a:ln w="15240">
            <a:solidFill>
              <a:srgbClr val="DED5C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989320" y="3950208"/>
            <a:ext cx="1325880" cy="310896"/>
          </a:xfrm>
          <a:prstGeom prst="roundRect">
            <a:avLst>
              <a:gd name="adj" fmla="val 35294"/>
            </a:avLst>
          </a:prstGeom>
          <a:solidFill>
            <a:srgbClr val="DED5CA"/>
          </a:solidFill>
          <a:ln w="12700">
            <a:solidFill>
              <a:srgbClr val="DED5C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62472" y="3995928"/>
            <a:ext cx="11795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C5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Rashad OS v7.2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406640" y="3950208"/>
            <a:ext cx="1508760" cy="310896"/>
          </a:xfrm>
          <a:prstGeom prst="roundRect">
            <a:avLst>
              <a:gd name="adj" fmla="val 35294"/>
            </a:avLst>
          </a:prstGeom>
          <a:solidFill>
            <a:srgbClr val="DED5CA"/>
          </a:solidFill>
          <a:ln w="12700">
            <a:solidFill>
              <a:srgbClr val="DED5C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79792" y="3995928"/>
            <a:ext cx="136245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C5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Host-Native Mode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006840" y="3950208"/>
            <a:ext cx="1234440" cy="310896"/>
          </a:xfrm>
          <a:prstGeom prst="roundRect">
            <a:avLst>
              <a:gd name="adj" fmla="val 35294"/>
            </a:avLst>
          </a:prstGeom>
          <a:solidFill>
            <a:srgbClr val="DED5CA"/>
          </a:solidFill>
          <a:ln w="12700">
            <a:solidFill>
              <a:srgbClr val="DED5C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079992" y="3995928"/>
            <a:ext cx="108813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C5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 Draft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2651760" y="6446520"/>
            <a:ext cx="68580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تم إنتاجه من الحزمة المرفوعة فقط، مع trace قابل للتدقيق.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51792" y="0"/>
            <a:ext cx="137160" cy="6858000"/>
          </a:xfrm>
          <a:prstGeom prst="rect">
            <a:avLst/>
          </a:prstGeom>
          <a:solidFill>
            <a:srgbClr val="A42365"/>
          </a:solidFill>
          <a:ln w="12700">
            <a:solidFill>
              <a:srgbClr val="A42365"/>
            </a:solidFill>
            <a:prstDash val="solid"/>
          </a:ln>
        </p:spPr>
      </p:sp>
      <p:pic>
        <p:nvPicPr>
          <p:cNvPr id="3" name="Image 0" descr="/mnt/data/rashad_current/Rashad/Skill/08_BRAND_CURRENT/assets/rubix-consulting-current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10312"/>
            <a:ext cx="1417320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55280" y="256032"/>
            <a:ext cx="32004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77381"/>
                </a:solidFill>
              </a:rPr>
              <a:t>HOST-NATIVE TRACE · ARTIFACT_DRAFT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11480" y="6510528"/>
            <a:ext cx="20116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42365"/>
                </a:solidFill>
              </a:rPr>
              <a:t>DRAFT — NOT RELEASED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01984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02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58368" y="868680"/>
            <a:ext cx="50292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773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قرار الإدارة الحالي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58368" y="1234440"/>
            <a:ext cx="56692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4800" b="1" dirty="0">
                <a:solidFill>
                  <a:srgbClr val="A423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تعليق القرار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658368" y="2084832"/>
            <a:ext cx="731520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900" dirty="0">
                <a:solidFill>
                  <a:srgbClr val="171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الفرصة جذابة، لكن لا يجوز تحويلها إلى قرار دخول قبل إغلاق جاهزية الخبرة، الشهادات، الفريق، والاستفسارات المؤثرة على السعر والتنفيذ.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658368" y="4160520"/>
            <a:ext cx="3246120" cy="1371600"/>
          </a:xfrm>
          <a:prstGeom prst="roundRect">
            <a:avLst>
              <a:gd name="adj" fmla="val 80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ED5C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5528" y="4315968"/>
            <a:ext cx="29260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773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الفرصة جذابة؟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22960" y="4681728"/>
            <a:ext cx="28346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5C5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منظومة ابتكار مؤسسية تجمع استراتيجية، منصة، تجربة مستفيد، AI، وتشغيل.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361688" y="4160520"/>
            <a:ext cx="3246120" cy="1371600"/>
          </a:xfrm>
          <a:prstGeom prst="roundRect">
            <a:avLst>
              <a:gd name="adj" fmla="val 80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ED5C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498848" y="4315968"/>
            <a:ext cx="29260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A423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ليست GO الآن؟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526280" y="4681728"/>
            <a:ext cx="28346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5C5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بيانات الجاهزية الداخلية غير مثبتة: خبرة، شهادات، فريق، تكلفة، سيولة.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8065008" y="4160520"/>
            <a:ext cx="3246120" cy="1371600"/>
          </a:xfrm>
          <a:prstGeom prst="roundRect">
            <a:avLst>
              <a:gd name="adj" fmla="val 80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ED5C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02168" y="4315968"/>
            <a:ext cx="29260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407A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يغيّر القرار؟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229600" y="4681728"/>
            <a:ext cx="28346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5C5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إغلاق ٨ بوابات جاهزية خلال sprint قصير قبل التسعير النهائي.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51792" y="0"/>
            <a:ext cx="137160" cy="6858000"/>
          </a:xfrm>
          <a:prstGeom prst="rect">
            <a:avLst/>
          </a:prstGeom>
          <a:solidFill>
            <a:srgbClr val="A42365"/>
          </a:solidFill>
          <a:ln w="12700">
            <a:solidFill>
              <a:srgbClr val="A42365"/>
            </a:solidFill>
            <a:prstDash val="solid"/>
          </a:ln>
        </p:spPr>
      </p:sp>
      <p:pic>
        <p:nvPicPr>
          <p:cNvPr id="3" name="Image 0" descr="/mnt/data/rashad_current/Rashad/Skill/08_BRAND_CURRENT/assets/rubix-consulting-current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10312"/>
            <a:ext cx="1417320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55280" y="256032"/>
            <a:ext cx="32004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77381"/>
                </a:solidFill>
              </a:rPr>
              <a:t>HOST-NATIVE TRACE · ARTIFACT_DRAFT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11480" y="6510528"/>
            <a:ext cx="20116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42365"/>
                </a:solidFill>
              </a:rPr>
              <a:t>DRAFT — NOT RELEASED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01984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03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94360" y="777240"/>
            <a:ext cx="68580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773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صورة الفرصة في دقيقة واحدة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94360" y="1078992"/>
            <a:ext cx="786384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71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المنافسة ليست منصة فقط؛ هي برنامج تحول رقمي وابتكار متكامل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685800" y="2377440"/>
            <a:ext cx="1965960" cy="0"/>
          </a:xfrm>
          <a:prstGeom prst="line">
            <a:avLst/>
          </a:prstGeom>
          <a:noFill/>
          <a:ln w="38100">
            <a:solidFill>
              <a:srgbClr val="A4236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2606040"/>
            <a:ext cx="205740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A423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en-US" sz="5000" dirty="0"/>
          </a:p>
        </p:txBody>
      </p:sp>
      <p:sp>
        <p:nvSpPr>
          <p:cNvPr id="11" name="Text 8"/>
          <p:cNvSpPr/>
          <p:nvPr/>
        </p:nvSpPr>
        <p:spPr>
          <a:xfrm>
            <a:off x="685800" y="3474720"/>
            <a:ext cx="205740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بنود BOQ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31520" y="3886200"/>
            <a:ext cx="196596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50" dirty="0">
                <a:solidFill>
                  <a:srgbClr val="5C5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تحمل نطاقًا أكبر من عددها الظاهر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502152" y="2377440"/>
            <a:ext cx="1965960" cy="0"/>
          </a:xfrm>
          <a:prstGeom prst="line">
            <a:avLst/>
          </a:prstGeom>
          <a:noFill/>
          <a:ln w="38100">
            <a:solidFill>
              <a:srgbClr val="07738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502152" y="2606040"/>
            <a:ext cx="205740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773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٢٠</a:t>
            </a:r>
            <a:endParaRPr lang="en-US" sz="5000" dirty="0"/>
          </a:p>
        </p:txBody>
      </p:sp>
      <p:sp>
        <p:nvSpPr>
          <p:cNvPr id="15" name="Text 12"/>
          <p:cNvSpPr/>
          <p:nvPr/>
        </p:nvSpPr>
        <p:spPr>
          <a:xfrm>
            <a:off x="3502152" y="3474720"/>
            <a:ext cx="205740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خدمة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547872" y="3886200"/>
            <a:ext cx="196596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50" dirty="0">
                <a:solidFill>
                  <a:srgbClr val="5C5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تحتاج تعريف وحدة وتعقيد وقبول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318504" y="2377440"/>
            <a:ext cx="1965960" cy="0"/>
          </a:xfrm>
          <a:prstGeom prst="line">
            <a:avLst/>
          </a:prstGeom>
          <a:noFill/>
          <a:ln w="38100">
            <a:solidFill>
              <a:srgbClr val="407AB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18504" y="2606040"/>
            <a:ext cx="205740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407A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٣٠</a:t>
            </a:r>
            <a:endParaRPr lang="en-US" sz="5000" dirty="0"/>
          </a:p>
        </p:txBody>
      </p:sp>
      <p:sp>
        <p:nvSpPr>
          <p:cNvPr id="19" name="Text 16"/>
          <p:cNvSpPr/>
          <p:nvPr/>
        </p:nvSpPr>
        <p:spPr>
          <a:xfrm>
            <a:off x="6318504" y="3474720"/>
            <a:ext cx="205740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364224" y="3886200"/>
            <a:ext cx="196596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50" dirty="0">
                <a:solidFill>
                  <a:srgbClr val="5C5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أكبر مركز ضغط في الجهد والتسعير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9134856" y="2377440"/>
            <a:ext cx="1965960" cy="0"/>
          </a:xfrm>
          <a:prstGeom prst="line">
            <a:avLst/>
          </a:prstGeom>
          <a:noFill/>
          <a:ln w="38100">
            <a:solidFill>
              <a:srgbClr val="F15A2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134856" y="2606040"/>
            <a:ext cx="205740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15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٢٤</a:t>
            </a:r>
            <a:endParaRPr lang="en-US" sz="5000" dirty="0"/>
          </a:p>
        </p:txBody>
      </p:sp>
      <p:sp>
        <p:nvSpPr>
          <p:cNvPr id="23" name="Text 20"/>
          <p:cNvSpPr/>
          <p:nvPr/>
        </p:nvSpPr>
        <p:spPr>
          <a:xfrm>
            <a:off x="9134856" y="3474720"/>
            <a:ext cx="205740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فردًا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9180576" y="3886200"/>
            <a:ext cx="196596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50" dirty="0">
                <a:solidFill>
                  <a:srgbClr val="5C5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 CVs ومقابلات وموافقات أمنية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1920240" y="5349240"/>
            <a:ext cx="7863840" cy="685800"/>
          </a:xfrm>
          <a:prstGeom prst="roundRect">
            <a:avLst>
              <a:gd name="adj" fmla="val 10667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729216" y="5349240"/>
            <a:ext cx="54864" cy="685800"/>
          </a:xfrm>
          <a:prstGeom prst="rect">
            <a:avLst/>
          </a:prstGeom>
          <a:solidFill>
            <a:srgbClr val="A42365"/>
          </a:solidFill>
          <a:ln w="12700">
            <a:solidFill>
              <a:srgbClr val="A4236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057400" y="5440680"/>
            <a:ext cx="763524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71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الرسالة: نحتاج قرار دخول مبني على readiness وليس على جاذبية المشروع فقط.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51792" y="0"/>
            <a:ext cx="137160" cy="6858000"/>
          </a:xfrm>
          <a:prstGeom prst="rect">
            <a:avLst/>
          </a:prstGeom>
          <a:solidFill>
            <a:srgbClr val="A42365"/>
          </a:solidFill>
          <a:ln w="12700">
            <a:solidFill>
              <a:srgbClr val="A42365"/>
            </a:solidFill>
            <a:prstDash val="solid"/>
          </a:ln>
        </p:spPr>
      </p:sp>
      <p:pic>
        <p:nvPicPr>
          <p:cNvPr id="3" name="Image 0" descr="/mnt/data/rashad_current/Rashad/Skill/08_BRAND_CURRENT/assets/rubix-consulting-current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10312"/>
            <a:ext cx="1417320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55280" y="256032"/>
            <a:ext cx="32004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77381"/>
                </a:solidFill>
              </a:rPr>
              <a:t>HOST-NATIVE TRACE · ARTIFACT_DRAFT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11480" y="6510528"/>
            <a:ext cx="20116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42365"/>
                </a:solidFill>
              </a:rPr>
              <a:t>DRAFT — NOT RELEASED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01984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04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94360" y="777240"/>
            <a:ext cx="68580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773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تشتري الجهة فعليًا؟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94360" y="1078992"/>
            <a:ext cx="786384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71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نظام تشغيل مؤسسي للابتكار، لا مجموعة ورش أو تطبيق منفرد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658368" y="1920240"/>
            <a:ext cx="566928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600" dirty="0">
                <a:solidFill>
                  <a:srgbClr val="5C5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القيمة في ربط الاستراتيجية بالتحديات والأفكار والنماذج الأولية والخدمات والقياس داخل دورة واحدة.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040880" y="2331720"/>
            <a:ext cx="1828800" cy="868680"/>
          </a:xfrm>
          <a:prstGeom prst="roundRect">
            <a:avLst>
              <a:gd name="adj" fmla="val 12632"/>
            </a:avLst>
          </a:prstGeom>
          <a:solidFill>
            <a:srgbClr val="171527"/>
          </a:solidFill>
          <a:ln w="12700">
            <a:solidFill>
              <a:srgbClr val="17152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78040" y="2505456"/>
            <a:ext cx="15544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منظومة تشغيل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للابتكار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641080" y="1417320"/>
            <a:ext cx="1234440" cy="914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4236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714232" y="1618488"/>
            <a:ext cx="10972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1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استراتيجية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1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وحوكمة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955280" y="2788920"/>
            <a:ext cx="1298448" cy="-914400"/>
          </a:xfrm>
          <a:prstGeom prst="line">
            <a:avLst/>
          </a:prstGeom>
          <a:noFill/>
          <a:ln w="19050">
            <a:solidFill>
              <a:srgbClr val="A42365"/>
            </a:solidFill>
            <a:prstDash val="solid"/>
            <a:headEnd type="none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9738360" y="3063240"/>
            <a:ext cx="1234440" cy="914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7738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811512" y="3264408"/>
            <a:ext cx="10972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1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منصة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1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رقمية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955280" y="2788920"/>
            <a:ext cx="2395728" cy="731520"/>
          </a:xfrm>
          <a:prstGeom prst="line">
            <a:avLst/>
          </a:prstGeom>
          <a:noFill/>
          <a:ln w="19050">
            <a:solidFill>
              <a:srgbClr val="077381"/>
            </a:solidFill>
            <a:prstDash val="solid"/>
            <a:headEnd type="none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7543800" y="4617720"/>
            <a:ext cx="1234440" cy="914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07AB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616952" y="4818888"/>
            <a:ext cx="10972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1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قياس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1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وتحسين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7955280" y="2788920"/>
            <a:ext cx="201168" cy="2286000"/>
          </a:xfrm>
          <a:prstGeom prst="line">
            <a:avLst/>
          </a:prstGeom>
          <a:noFill/>
          <a:ln w="19050">
            <a:solidFill>
              <a:srgbClr val="407ABE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5623560" y="3566160"/>
            <a:ext cx="1234440" cy="914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15A2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96712" y="3767328"/>
            <a:ext cx="10972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1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تجربة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1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المستفيد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7955280" y="2788920"/>
            <a:ext cx="-1719072" cy="1234440"/>
          </a:xfrm>
          <a:prstGeom prst="line">
            <a:avLst/>
          </a:prstGeom>
          <a:noFill/>
          <a:ln w="19050">
            <a:solidFill>
              <a:srgbClr val="F15A26"/>
            </a:solidFill>
            <a:prstDash val="solid"/>
            <a:headEnd type="none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5852160" y="1783080"/>
            <a:ext cx="1234440" cy="914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8913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925312" y="1984248"/>
            <a:ext cx="10972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1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1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وبيانات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7955280" y="2788920"/>
            <a:ext cx="-1490472" cy="-548640"/>
          </a:xfrm>
          <a:prstGeom prst="line">
            <a:avLst/>
          </a:prstGeom>
          <a:noFill/>
          <a:ln w="19050">
            <a:solidFill>
              <a:srgbClr val="B89136"/>
            </a:solidFill>
            <a:prstDash val="solid"/>
            <a:headEnd type="none"/>
            <a:tailEnd type="triangle"/>
          </a:ln>
        </p:spPr>
      </p:sp>
      <p:sp>
        <p:nvSpPr>
          <p:cNvPr id="27" name="Text 24"/>
          <p:cNvSpPr/>
          <p:nvPr/>
        </p:nvSpPr>
        <p:spPr>
          <a:xfrm>
            <a:off x="2651760" y="6446520"/>
            <a:ext cx="68580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map مستخدم هنا لأن العلاقة نفسها هي الرسالة.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51792" y="0"/>
            <a:ext cx="137160" cy="6858000"/>
          </a:xfrm>
          <a:prstGeom prst="rect">
            <a:avLst/>
          </a:prstGeom>
          <a:solidFill>
            <a:srgbClr val="A42365"/>
          </a:solidFill>
          <a:ln w="12700">
            <a:solidFill>
              <a:srgbClr val="A42365"/>
            </a:solidFill>
            <a:prstDash val="solid"/>
          </a:ln>
        </p:spPr>
      </p:sp>
      <p:pic>
        <p:nvPicPr>
          <p:cNvPr id="3" name="Image 0" descr="/mnt/data/rashad_current/Rashad/Skill/08_BRAND_CURRENT/assets/rubix-consulting-current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10312"/>
            <a:ext cx="1417320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55280" y="256032"/>
            <a:ext cx="32004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77381"/>
                </a:solidFill>
              </a:rPr>
              <a:t>HOST-NATIVE TRACE · ARTIFACT_DRAFT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11480" y="6510528"/>
            <a:ext cx="20116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42365"/>
                </a:solidFill>
              </a:rPr>
              <a:t>DRAFT — NOT RELEASED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01984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05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94360" y="777240"/>
            <a:ext cx="68580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773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اكتمال المستندات وما يحتاج إلى حسم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94360" y="1078992"/>
            <a:ext cx="786384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71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الحزمة واسعة، لكنها تحمل تعارضات تؤثر على السعر والمعمارية والعقد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48840"/>
          <a:ext cx="10789920" cy="2331720"/>
        </p:xfrm>
        <a:graphic>
          <a:graphicData uri="http://schemas.openxmlformats.org/drawingml/2006/table">
            <a:tbl>
              <a:tblPr/>
              <a:tblGrid>
                <a:gridCol w="4663440"/>
                <a:gridCol w="4114800"/>
                <a:gridCol w="2011680"/>
              </a:tblGrid>
              <a:tr h="46634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القضية</a:t>
                      </a:r>
                      <a:endParaRPr lang="en-US" sz="1200" dirty="0"/>
                    </a:p>
                  </a:txBody>
                  <a:tcPr marL="45720" marR="45720" marT="45720" marB="45720" anchor="mid">
                    <a:lnL w="889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الأثر الإداري</a:t>
                      </a:r>
                      <a:endParaRPr lang="en-US" sz="1200" dirty="0"/>
                    </a:p>
                  </a:txBody>
                  <a:tcPr marL="45720" marR="45720" marT="45720" marB="45720" anchor="mid">
                    <a:lnL w="889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الإجراء</a:t>
                      </a:r>
                      <a:endParaRPr lang="en-US" sz="1200" dirty="0"/>
                    </a:p>
                  </a:txBody>
                  <a:tcPr marL="45720" marR="45720" marT="45720" marB="45720" anchor="mid">
                    <a:lnL w="889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27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71527"/>
                          </a:solidFill>
                        </a:rPr>
                        <a:t>حظر Open Source مقابل قائمة تقنيات مطلوبة</a:t>
                      </a:r>
                      <a:endParaRPr lang="en-US" sz="1100" dirty="0"/>
                    </a:p>
                  </a:txBody>
                  <a:tcPr marL="45720" marR="45720" marT="45720" marB="45720" anchor="mid">
                    <a:lnL w="889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71527"/>
                          </a:solidFill>
                        </a:rPr>
                        <a:t>يؤثر على المعمارية والتراخيص والتسعير</a:t>
                      </a:r>
                      <a:endParaRPr lang="en-US" sz="1100" dirty="0"/>
                    </a:p>
                  </a:txBody>
                  <a:tcPr marL="45720" marR="45720" marT="45720" marB="45720" anchor="mid">
                    <a:lnL w="889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71527"/>
                          </a:solidFill>
                        </a:rPr>
                        <a:t>استفسار</a:t>
                      </a:r>
                      <a:endParaRPr lang="en-US" sz="1100" dirty="0"/>
                    </a:p>
                  </a:txBody>
                  <a:tcPr marL="45720" marR="45720" marT="45720" marB="45720" anchor="mid">
                    <a:lnL w="889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71527"/>
                          </a:solidFill>
                        </a:rPr>
                        <a:t>مدة العقد الكلية غير مقفلة</a:t>
                      </a:r>
                      <a:endParaRPr lang="en-US" sz="1100" dirty="0"/>
                    </a:p>
                  </a:txBody>
                  <a:tcPr marL="45720" marR="45720" marT="45720" marB="45720" anchor="mid">
                    <a:lnL w="889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71527"/>
                          </a:solidFill>
                        </a:rPr>
                        <a:t>يؤثر على الجدول والتكلفة والدعم</a:t>
                      </a:r>
                      <a:endParaRPr lang="en-US" sz="1100" dirty="0"/>
                    </a:p>
                  </a:txBody>
                  <a:tcPr marL="45720" marR="45720" marT="45720" marB="45720" anchor="mid">
                    <a:lnL w="889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71527"/>
                          </a:solidFill>
                        </a:rPr>
                        <a:t>تأكيد</a:t>
                      </a:r>
                      <a:endParaRPr lang="en-US" sz="1100" dirty="0"/>
                    </a:p>
                  </a:txBody>
                  <a:tcPr marL="45720" marR="45720" marT="45720" marB="45720" anchor="mid">
                    <a:lnL w="889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71527"/>
                          </a:solidFill>
                        </a:rPr>
                        <a:t>الملحق رقم ٦ غير متاح</a:t>
                      </a:r>
                      <a:endParaRPr lang="en-US" sz="1100" dirty="0"/>
                    </a:p>
                  </a:txBody>
                  <a:tcPr marL="45720" marR="45720" marT="45720" marB="45720" anchor="mid">
                    <a:lnL w="889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71527"/>
                          </a:solidFill>
                        </a:rPr>
                        <a:t>احتمال أثر على المحتوى المحلي والالتزام</a:t>
                      </a:r>
                      <a:endParaRPr lang="en-US" sz="1100" dirty="0"/>
                    </a:p>
                  </a:txBody>
                  <a:tcPr marL="45720" marR="45720" marT="45720" marB="45720" anchor="mid">
                    <a:lnL w="889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71527"/>
                          </a:solidFill>
                        </a:rPr>
                        <a:t>طلب</a:t>
                      </a:r>
                      <a:endParaRPr lang="en-US" sz="1100" dirty="0"/>
                    </a:p>
                  </a:txBody>
                  <a:tcPr marL="45720" marR="45720" marT="45720" marB="45720" anchor="mid">
                    <a:lnL w="889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71527"/>
                          </a:solidFill>
                        </a:rPr>
                        <a:t>نصوص نموذجية داخل العقد</a:t>
                      </a:r>
                      <a:endParaRPr lang="en-US" sz="1100" dirty="0"/>
                    </a:p>
                  </a:txBody>
                  <a:tcPr marL="45720" marR="45720" marT="45720" marB="45720" anchor="mid">
                    <a:lnL w="889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71527"/>
                          </a:solidFill>
                        </a:rPr>
                        <a:t>مخاطر سوء تفسير النطاق التعاقدي</a:t>
                      </a:r>
                      <a:endParaRPr lang="en-US" sz="1100" dirty="0"/>
                    </a:p>
                  </a:txBody>
                  <a:tcPr marL="45720" marR="45720" marT="45720" marB="45720" anchor="mid">
                    <a:lnL w="889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71527"/>
                          </a:solidFill>
                        </a:rPr>
                        <a:t>تنقية</a:t>
                      </a:r>
                      <a:endParaRPr lang="en-US" sz="1100" dirty="0"/>
                    </a:p>
                  </a:txBody>
                  <a:tcPr marL="45720" marR="45720" marT="45720" marB="45720" anchor="mid">
                    <a:lnL w="889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1005840" y="5029200"/>
            <a:ext cx="7498080" cy="685800"/>
          </a:xfrm>
          <a:prstGeom prst="roundRect">
            <a:avLst>
              <a:gd name="adj" fmla="val 10667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8449056" y="5029200"/>
            <a:ext cx="54864" cy="685800"/>
          </a:xfrm>
          <a:prstGeom prst="rect">
            <a:avLst/>
          </a:prstGeom>
          <a:solidFill>
            <a:srgbClr val="077381"/>
          </a:solidFill>
          <a:ln w="12700">
            <a:solidFill>
              <a:srgbClr val="077381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143000" y="5120640"/>
            <a:ext cx="72694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71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الفجوات ليست شكلية؛ بعضها قادر على تغيير القرار التجاري أو طريقة تنفيذ الحل.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51792" y="0"/>
            <a:ext cx="137160" cy="6858000"/>
          </a:xfrm>
          <a:prstGeom prst="rect">
            <a:avLst/>
          </a:prstGeom>
          <a:solidFill>
            <a:srgbClr val="A42365"/>
          </a:solidFill>
          <a:ln w="12700">
            <a:solidFill>
              <a:srgbClr val="A42365"/>
            </a:solidFill>
            <a:prstDash val="solid"/>
          </a:ln>
        </p:spPr>
      </p:sp>
      <p:pic>
        <p:nvPicPr>
          <p:cNvPr id="3" name="Image 0" descr="/mnt/data/rashad_current/Rashad/Skill/08_BRAND_CURRENT/assets/rubix-consulting-current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10312"/>
            <a:ext cx="1417320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55280" y="256032"/>
            <a:ext cx="32004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77381"/>
                </a:solidFill>
              </a:rPr>
              <a:t>HOST-NATIVE TRACE · ARTIFACT_DRAFT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11480" y="6510528"/>
            <a:ext cx="20116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42365"/>
                </a:solidFill>
              </a:rPr>
              <a:t>DRAFT — NOT RELEASED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01984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06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94360" y="777240"/>
            <a:ext cx="68580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773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نطاق منظومة الابتكار والثقافة الرقمية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94360" y="1078992"/>
            <a:ext cx="786384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71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النطاق يتكون من طبقات مترابطة؛ فصلها في العرض سيضعف القصة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731520" y="2011680"/>
            <a:ext cx="10332720" cy="685800"/>
          </a:xfrm>
          <a:prstGeom prst="roundRect">
            <a:avLst>
              <a:gd name="adj" fmla="val 1066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ED5C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698480" y="2011680"/>
            <a:ext cx="109728" cy="685800"/>
          </a:xfrm>
          <a:prstGeom prst="rect">
            <a:avLst/>
          </a:prstGeom>
          <a:solidFill>
            <a:srgbClr val="A42365"/>
          </a:solidFill>
          <a:ln w="12700">
            <a:solidFill>
              <a:srgbClr val="A4236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95360" y="2176272"/>
            <a:ext cx="19202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71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النتائج الاستراتيجية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914400" y="2203704"/>
            <a:ext cx="1563624" cy="310896"/>
          </a:xfrm>
          <a:prstGeom prst="roundRect">
            <a:avLst>
              <a:gd name="adj" fmla="val 35294"/>
            </a:avLst>
          </a:prstGeom>
          <a:solidFill>
            <a:srgbClr val="EEE5DA"/>
          </a:solidFill>
          <a:ln w="12700">
            <a:solidFill>
              <a:srgbClr val="EEE5D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87552" y="2249424"/>
            <a:ext cx="1417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C5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استراتيجية ابتكار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2569464" y="2203704"/>
            <a:ext cx="685800" cy="310896"/>
          </a:xfrm>
          <a:prstGeom prst="roundRect">
            <a:avLst>
              <a:gd name="adj" fmla="val 35294"/>
            </a:avLst>
          </a:prstGeom>
          <a:solidFill>
            <a:srgbClr val="EEE5DA"/>
          </a:solidFill>
          <a:ln w="12700">
            <a:solidFill>
              <a:srgbClr val="EEE5D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642616" y="2249424"/>
            <a:ext cx="53949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C5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حوكمة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346704" y="2203704"/>
            <a:ext cx="978408" cy="310896"/>
          </a:xfrm>
          <a:prstGeom prst="roundRect">
            <a:avLst>
              <a:gd name="adj" fmla="val 35294"/>
            </a:avLst>
          </a:prstGeom>
          <a:solidFill>
            <a:srgbClr val="EEE5DA"/>
          </a:solidFill>
          <a:ln w="12700">
            <a:solidFill>
              <a:srgbClr val="EEE5D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419856" y="2249424"/>
            <a:ext cx="83210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C5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نموذج نضج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416552" y="2203704"/>
            <a:ext cx="1124712" cy="310896"/>
          </a:xfrm>
          <a:prstGeom prst="roundRect">
            <a:avLst>
              <a:gd name="adj" fmla="val 35294"/>
            </a:avLst>
          </a:prstGeom>
          <a:solidFill>
            <a:srgbClr val="EEE5DA"/>
          </a:solidFill>
          <a:ln w="12700">
            <a:solidFill>
              <a:srgbClr val="EEE5D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489704" y="2249424"/>
            <a:ext cx="97840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C5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مؤشرات أداء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31520" y="2926080"/>
            <a:ext cx="10332720" cy="685800"/>
          </a:xfrm>
          <a:prstGeom prst="roundRect">
            <a:avLst>
              <a:gd name="adj" fmla="val 1066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ED5C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698480" y="2926080"/>
            <a:ext cx="109728" cy="685800"/>
          </a:xfrm>
          <a:prstGeom prst="rect">
            <a:avLst/>
          </a:prstGeom>
          <a:solidFill>
            <a:srgbClr val="077381"/>
          </a:solidFill>
          <a:ln w="12700">
            <a:solidFill>
              <a:srgbClr val="07738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595360" y="3090672"/>
            <a:ext cx="19202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71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محرك الابتكار والخدمات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914400" y="3118104"/>
            <a:ext cx="685800" cy="310896"/>
          </a:xfrm>
          <a:prstGeom prst="roundRect">
            <a:avLst>
              <a:gd name="adj" fmla="val 35294"/>
            </a:avLst>
          </a:prstGeom>
          <a:solidFill>
            <a:srgbClr val="EEE5DA"/>
          </a:solidFill>
          <a:ln w="12700">
            <a:solidFill>
              <a:srgbClr val="EEE5D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87552" y="3163824"/>
            <a:ext cx="53949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C5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ورش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1691640" y="3118104"/>
            <a:ext cx="758952" cy="310896"/>
          </a:xfrm>
          <a:prstGeom prst="roundRect">
            <a:avLst>
              <a:gd name="adj" fmla="val 35294"/>
            </a:avLst>
          </a:prstGeom>
          <a:solidFill>
            <a:srgbClr val="EEE5DA"/>
          </a:solidFill>
          <a:ln w="12700">
            <a:solidFill>
              <a:srgbClr val="EEE5D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764792" y="3163824"/>
            <a:ext cx="61264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C5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تحديات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2542032" y="3118104"/>
            <a:ext cx="685800" cy="310896"/>
          </a:xfrm>
          <a:prstGeom prst="roundRect">
            <a:avLst>
              <a:gd name="adj" fmla="val 35294"/>
            </a:avLst>
          </a:prstGeom>
          <a:solidFill>
            <a:srgbClr val="EEE5DA"/>
          </a:solidFill>
          <a:ln w="12700">
            <a:solidFill>
              <a:srgbClr val="EEE5D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615184" y="3163824"/>
            <a:ext cx="53949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C5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أفكار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3319272" y="3118104"/>
            <a:ext cx="758952" cy="310896"/>
          </a:xfrm>
          <a:prstGeom prst="roundRect">
            <a:avLst>
              <a:gd name="adj" fmla="val 35294"/>
            </a:avLst>
          </a:prstGeom>
          <a:solidFill>
            <a:srgbClr val="EEE5DA"/>
          </a:solidFill>
          <a:ln w="12700">
            <a:solidFill>
              <a:srgbClr val="EEE5D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392424" y="3163824"/>
            <a:ext cx="61264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C5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٣٠ POC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4169664" y="3118104"/>
            <a:ext cx="832104" cy="310896"/>
          </a:xfrm>
          <a:prstGeom prst="roundRect">
            <a:avLst>
              <a:gd name="adj" fmla="val 35294"/>
            </a:avLst>
          </a:prstGeom>
          <a:solidFill>
            <a:srgbClr val="EEE5DA"/>
          </a:solidFill>
          <a:ln w="12700">
            <a:solidFill>
              <a:srgbClr val="EEE5D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242816" y="3163824"/>
            <a:ext cx="6858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C5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٢٠ خدمة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5093208" y="3118104"/>
            <a:ext cx="1197864" cy="310896"/>
          </a:xfrm>
          <a:prstGeom prst="roundRect">
            <a:avLst>
              <a:gd name="adj" fmla="val 35294"/>
            </a:avLst>
          </a:prstGeom>
          <a:solidFill>
            <a:srgbClr val="EEE5DA"/>
          </a:solidFill>
          <a:ln w="12700">
            <a:solidFill>
              <a:srgbClr val="EEE5D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166360" y="3163824"/>
            <a:ext cx="1051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C5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تجربة مستفيد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731520" y="3840480"/>
            <a:ext cx="10332720" cy="685800"/>
          </a:xfrm>
          <a:prstGeom prst="roundRect">
            <a:avLst>
              <a:gd name="adj" fmla="val 1066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ED5CA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10698480" y="3840480"/>
            <a:ext cx="109728" cy="685800"/>
          </a:xfrm>
          <a:prstGeom prst="rect">
            <a:avLst/>
          </a:prstGeom>
          <a:solidFill>
            <a:srgbClr val="407ABE"/>
          </a:solidFill>
          <a:ln w="12700">
            <a:solidFill>
              <a:srgbClr val="407ABE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595360" y="4005072"/>
            <a:ext cx="19202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71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المنصة والذكاء الاصطناعي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914400" y="4032504"/>
            <a:ext cx="1197864" cy="310896"/>
          </a:xfrm>
          <a:prstGeom prst="roundRect">
            <a:avLst>
              <a:gd name="adj" fmla="val 35294"/>
            </a:avLst>
          </a:prstGeom>
          <a:solidFill>
            <a:srgbClr val="EEE5DA"/>
          </a:solidFill>
          <a:ln w="12700">
            <a:solidFill>
              <a:srgbClr val="EEE5DA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87552" y="4078224"/>
            <a:ext cx="1051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C5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بوابة ابتكار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2203704" y="4032504"/>
            <a:ext cx="1124712" cy="310896"/>
          </a:xfrm>
          <a:prstGeom prst="roundRect">
            <a:avLst>
              <a:gd name="adj" fmla="val 35294"/>
            </a:avLst>
          </a:prstGeom>
          <a:solidFill>
            <a:srgbClr val="EEE5DA"/>
          </a:solidFill>
          <a:ln w="12700">
            <a:solidFill>
              <a:srgbClr val="EEE5DA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2276856" y="4078224"/>
            <a:ext cx="97840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C5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لوحات قيادة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3419856" y="4032504"/>
            <a:ext cx="832104" cy="310896"/>
          </a:xfrm>
          <a:prstGeom prst="roundRect">
            <a:avLst>
              <a:gd name="adj" fmla="val 35294"/>
            </a:avLst>
          </a:prstGeom>
          <a:solidFill>
            <a:srgbClr val="EEE5DA"/>
          </a:solidFill>
          <a:ln w="12700">
            <a:solidFill>
              <a:srgbClr val="EEE5DA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3493008" y="4078224"/>
            <a:ext cx="6858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C5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تحليلات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4343400" y="4032504"/>
            <a:ext cx="1124712" cy="310896"/>
          </a:xfrm>
          <a:prstGeom prst="roundRect">
            <a:avLst>
              <a:gd name="adj" fmla="val 35294"/>
            </a:avLst>
          </a:prstGeom>
          <a:solidFill>
            <a:srgbClr val="EEE5DA"/>
          </a:solidFill>
          <a:ln w="12700">
            <a:solidFill>
              <a:srgbClr val="EEE5DA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416552" y="4078224"/>
            <a:ext cx="97840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C5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تصنيف أفكار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5559552" y="4032504"/>
            <a:ext cx="685800" cy="310896"/>
          </a:xfrm>
          <a:prstGeom prst="roundRect">
            <a:avLst>
              <a:gd name="adj" fmla="val 35294"/>
            </a:avLst>
          </a:prstGeom>
          <a:solidFill>
            <a:srgbClr val="EEE5DA"/>
          </a:solidFill>
          <a:ln w="12700">
            <a:solidFill>
              <a:srgbClr val="EEE5DA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632704" y="4078224"/>
            <a:ext cx="53949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C5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تكامل</a:t>
            </a:r>
            <a:endParaRPr lang="en-US" sz="1050" dirty="0"/>
          </a:p>
        </p:txBody>
      </p:sp>
      <p:sp>
        <p:nvSpPr>
          <p:cNvPr id="48" name="Shape 45"/>
          <p:cNvSpPr/>
          <p:nvPr/>
        </p:nvSpPr>
        <p:spPr>
          <a:xfrm>
            <a:off x="731520" y="4754880"/>
            <a:ext cx="10332720" cy="685800"/>
          </a:xfrm>
          <a:prstGeom prst="roundRect">
            <a:avLst>
              <a:gd name="adj" fmla="val 1066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ED5CA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10698480" y="4754880"/>
            <a:ext cx="109728" cy="685800"/>
          </a:xfrm>
          <a:prstGeom prst="rect">
            <a:avLst/>
          </a:prstGeom>
          <a:solidFill>
            <a:srgbClr val="F15A26"/>
          </a:solidFill>
          <a:ln w="12700">
            <a:solidFill>
              <a:srgbClr val="F15A26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8595360" y="4919472"/>
            <a:ext cx="19202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71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الأساس التشغيلي</a:t>
            </a:r>
            <a:endParaRPr lang="en-US" sz="1400" dirty="0"/>
          </a:p>
        </p:txBody>
      </p:sp>
      <p:sp>
        <p:nvSpPr>
          <p:cNvPr id="51" name="Shape 48"/>
          <p:cNvSpPr/>
          <p:nvPr/>
        </p:nvSpPr>
        <p:spPr>
          <a:xfrm>
            <a:off x="914400" y="4946904"/>
            <a:ext cx="1124712" cy="310896"/>
          </a:xfrm>
          <a:prstGeom prst="roundRect">
            <a:avLst>
              <a:gd name="adj" fmla="val 35294"/>
            </a:avLst>
          </a:prstGeom>
          <a:solidFill>
            <a:srgbClr val="EEE5DA"/>
          </a:solidFill>
          <a:ln w="12700">
            <a:solidFill>
              <a:srgbClr val="EEE5DA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987552" y="4992624"/>
            <a:ext cx="97840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C5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أمن سيبراني</a:t>
            </a:r>
            <a:endParaRPr lang="en-US" sz="1050" dirty="0"/>
          </a:p>
        </p:txBody>
      </p:sp>
      <p:sp>
        <p:nvSpPr>
          <p:cNvPr id="53" name="Shape 50"/>
          <p:cNvSpPr/>
          <p:nvPr/>
        </p:nvSpPr>
        <p:spPr>
          <a:xfrm>
            <a:off x="2130552" y="4946904"/>
            <a:ext cx="1344168" cy="310896"/>
          </a:xfrm>
          <a:prstGeom prst="roundRect">
            <a:avLst>
              <a:gd name="adj" fmla="val 35294"/>
            </a:avLst>
          </a:prstGeom>
          <a:solidFill>
            <a:srgbClr val="EEE5DA"/>
          </a:solidFill>
          <a:ln w="12700">
            <a:solidFill>
              <a:srgbClr val="EEE5DA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2203704" y="4992624"/>
            <a:ext cx="119786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C5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استضافة داخلية</a:t>
            </a:r>
            <a:endParaRPr lang="en-US" sz="1050" dirty="0"/>
          </a:p>
        </p:txBody>
      </p:sp>
      <p:sp>
        <p:nvSpPr>
          <p:cNvPr id="55" name="Shape 52"/>
          <p:cNvSpPr/>
          <p:nvPr/>
        </p:nvSpPr>
        <p:spPr>
          <a:xfrm>
            <a:off x="3566160" y="4946904"/>
            <a:ext cx="905256" cy="310896"/>
          </a:xfrm>
          <a:prstGeom prst="roundRect">
            <a:avLst>
              <a:gd name="adj" fmla="val 35294"/>
            </a:avLst>
          </a:prstGeom>
          <a:solidFill>
            <a:srgbClr val="EEE5DA"/>
          </a:solidFill>
          <a:ln w="12700">
            <a:solidFill>
              <a:srgbClr val="EEE5DA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3639312" y="4992624"/>
            <a:ext cx="75895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C5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اختبارات</a:t>
            </a:r>
            <a:endParaRPr lang="en-US" sz="1050" dirty="0"/>
          </a:p>
        </p:txBody>
      </p:sp>
      <p:sp>
        <p:nvSpPr>
          <p:cNvPr id="57" name="Shape 54"/>
          <p:cNvSpPr/>
          <p:nvPr/>
        </p:nvSpPr>
        <p:spPr>
          <a:xfrm>
            <a:off x="4562856" y="4946904"/>
            <a:ext cx="685800" cy="310896"/>
          </a:xfrm>
          <a:prstGeom prst="roundRect">
            <a:avLst>
              <a:gd name="adj" fmla="val 35294"/>
            </a:avLst>
          </a:prstGeom>
          <a:solidFill>
            <a:srgbClr val="EEE5DA"/>
          </a:solidFill>
          <a:ln w="12700">
            <a:solidFill>
              <a:srgbClr val="EEE5DA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4636008" y="4992624"/>
            <a:ext cx="53949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C5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قبول</a:t>
            </a:r>
            <a:endParaRPr lang="en-US" sz="1050" dirty="0"/>
          </a:p>
        </p:txBody>
      </p:sp>
      <p:sp>
        <p:nvSpPr>
          <p:cNvPr id="59" name="Shape 56"/>
          <p:cNvSpPr/>
          <p:nvPr/>
        </p:nvSpPr>
        <p:spPr>
          <a:xfrm>
            <a:off x="5340096" y="4946904"/>
            <a:ext cx="978408" cy="310896"/>
          </a:xfrm>
          <a:prstGeom prst="roundRect">
            <a:avLst>
              <a:gd name="adj" fmla="val 35294"/>
            </a:avLst>
          </a:prstGeom>
          <a:solidFill>
            <a:srgbClr val="EEE5DA"/>
          </a:solidFill>
          <a:ln w="12700">
            <a:solidFill>
              <a:srgbClr val="EEE5DA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5413248" y="4992624"/>
            <a:ext cx="83210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C5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نقل معرفة</a:t>
            </a:r>
            <a:endParaRPr lang="en-US" sz="1050" dirty="0"/>
          </a:p>
        </p:txBody>
      </p:sp>
      <p:sp>
        <p:nvSpPr>
          <p:cNvPr id="61" name="Shape 58"/>
          <p:cNvSpPr/>
          <p:nvPr/>
        </p:nvSpPr>
        <p:spPr>
          <a:xfrm>
            <a:off x="6409944" y="4946904"/>
            <a:ext cx="1197864" cy="310896"/>
          </a:xfrm>
          <a:prstGeom prst="roundRect">
            <a:avLst>
              <a:gd name="adj" fmla="val 35294"/>
            </a:avLst>
          </a:prstGeom>
          <a:solidFill>
            <a:srgbClr val="EEE5DA"/>
          </a:solidFill>
          <a:ln w="12700">
            <a:solidFill>
              <a:srgbClr val="EEE5DA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6483096" y="4992624"/>
            <a:ext cx="1051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C5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دعم ١٢ شهرًا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51792" y="0"/>
            <a:ext cx="137160" cy="6858000"/>
          </a:xfrm>
          <a:prstGeom prst="rect">
            <a:avLst/>
          </a:prstGeom>
          <a:solidFill>
            <a:srgbClr val="A42365"/>
          </a:solidFill>
          <a:ln w="12700">
            <a:solidFill>
              <a:srgbClr val="A42365"/>
            </a:solidFill>
            <a:prstDash val="solid"/>
          </a:ln>
        </p:spPr>
      </p:sp>
      <p:pic>
        <p:nvPicPr>
          <p:cNvPr id="3" name="Image 0" descr="/mnt/data/rashad_current/Rashad/Skill/08_BRAND_CURRENT/assets/rubix-consulting-current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10312"/>
            <a:ext cx="1417320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55280" y="256032"/>
            <a:ext cx="32004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77381"/>
                </a:solidFill>
              </a:rPr>
              <a:t>HOST-NATIVE TRACE · ARTIFACT_DRAFT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11480" y="6510528"/>
            <a:ext cx="20116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42365"/>
                </a:solidFill>
              </a:rPr>
              <a:t>DRAFT — NOT RELEASED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01984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07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94360" y="777240"/>
            <a:ext cx="68580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773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المخرجات والكميات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94360" y="1078992"/>
            <a:ext cx="786384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71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خمسة بنود فقط تُخفي حجم تنفيذ مرتفع جدًا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0440" y="2057400"/>
          <a:ext cx="7818120" cy="3017520"/>
        </p:xfrm>
        <a:graphic>
          <a:graphicData uri="http://schemas.openxmlformats.org/drawingml/2006/table">
            <a:tbl>
              <a:tblPr/>
              <a:tblGrid>
                <a:gridCol w="3246120"/>
                <a:gridCol w="1005840"/>
                <a:gridCol w="1737360"/>
                <a:gridCol w="1828800"/>
              </a:tblGrid>
              <a:tr h="5029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البند</a:t>
                      </a:r>
                      <a:endParaRPr lang="en-US" sz="11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الكمية</a:t>
                      </a:r>
                      <a:endParaRPr lang="en-US" sz="11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الجهد المخفي</a:t>
                      </a:r>
                      <a:endParaRPr lang="en-US" sz="11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حساسية السعر</a:t>
                      </a:r>
                      <a:endParaRPr lang="en-US" sz="11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2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71527"/>
                          </a:solidFill>
                        </a:rPr>
                        <a:t>استراتيجية الابتكار المؤسسي</a:t>
                      </a:r>
                      <a:endParaRPr lang="en-US" sz="10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71527"/>
                          </a:solidFill>
                        </a:rPr>
                        <a:t>١</a:t>
                      </a:r>
                      <a:endParaRPr lang="en-US" sz="10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71527"/>
                          </a:solidFill>
                        </a:rPr>
                        <a:t>متوسط</a:t>
                      </a:r>
                      <a:endParaRPr lang="en-US" sz="10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71527"/>
                          </a:solidFill>
                        </a:rPr>
                        <a:t>متوسطة</a:t>
                      </a:r>
                      <a:endParaRPr lang="en-US" sz="10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71527"/>
                          </a:solidFill>
                        </a:rPr>
                        <a:t>مبادرات وورش الابتكار</a:t>
                      </a:r>
                      <a:endParaRPr lang="en-US" sz="10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71527"/>
                          </a:solidFill>
                        </a:rPr>
                        <a:t>١</a:t>
                      </a:r>
                      <a:endParaRPr lang="en-US" sz="10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71527"/>
                          </a:solidFill>
                        </a:rPr>
                        <a:t>مرتفع</a:t>
                      </a:r>
                      <a:endParaRPr lang="en-US" sz="10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71527"/>
                          </a:solidFill>
                        </a:rPr>
                        <a:t>مرتفعة</a:t>
                      </a:r>
                      <a:endParaRPr lang="en-US" sz="10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71527"/>
                          </a:solidFill>
                        </a:rPr>
                        <a:t>تحسين تجربة المستفيد</a:t>
                      </a:r>
                      <a:endParaRPr lang="en-US" sz="10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71527"/>
                          </a:solidFill>
                        </a:rPr>
                        <a:t>٢٠</a:t>
                      </a:r>
                      <a:endParaRPr lang="en-US" sz="10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71527"/>
                          </a:solidFill>
                        </a:rPr>
                        <a:t>مرتفع جدًا</a:t>
                      </a:r>
                      <a:endParaRPr lang="en-US" sz="10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71527"/>
                          </a:solidFill>
                        </a:rPr>
                        <a:t>مرتفعة جدًا</a:t>
                      </a:r>
                      <a:endParaRPr lang="en-US" sz="10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71527"/>
                          </a:solidFill>
                        </a:rPr>
                        <a:t>تطوير النماذج الأولية POC</a:t>
                      </a:r>
                      <a:endParaRPr lang="en-US" sz="10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71527"/>
                          </a:solidFill>
                        </a:rPr>
                        <a:t>٣٠</a:t>
                      </a:r>
                      <a:endParaRPr lang="en-US" sz="10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71527"/>
                          </a:solidFill>
                        </a:rPr>
                        <a:t>حرج</a:t>
                      </a:r>
                      <a:endParaRPr lang="en-US" sz="10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71527"/>
                          </a:solidFill>
                        </a:rPr>
                        <a:t>حرجة</a:t>
                      </a:r>
                      <a:endParaRPr lang="en-US" sz="10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71527"/>
                          </a:solidFill>
                        </a:rPr>
                        <a:t>الدعم الفني</a:t>
                      </a:r>
                      <a:endParaRPr lang="en-US" sz="10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71527"/>
                          </a:solidFill>
                        </a:rPr>
                        <a:t>١٢ شهرًا</a:t>
                      </a:r>
                      <a:endParaRPr lang="en-US" sz="10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71527"/>
                          </a:solidFill>
                        </a:rPr>
                        <a:t>مرتفع</a:t>
                      </a:r>
                      <a:endParaRPr lang="en-US" sz="10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71527"/>
                          </a:solidFill>
                        </a:rPr>
                        <a:t>مرتفعة</a:t>
                      </a:r>
                      <a:endParaRPr lang="en-US" sz="1050" dirty="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2148840"/>
            <a:ext cx="237744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A423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٥٠</a:t>
            </a:r>
            <a:endParaRPr lang="en-US" sz="7600" dirty="0"/>
          </a:p>
        </p:txBody>
      </p:sp>
      <p:sp>
        <p:nvSpPr>
          <p:cNvPr id="11" name="Text 7"/>
          <p:cNvSpPr/>
          <p:nvPr/>
        </p:nvSpPr>
        <p:spPr>
          <a:xfrm>
            <a:off x="777240" y="3246120"/>
            <a:ext cx="23774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1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وحدة تنفيذية مركزة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868680" y="3703320"/>
            <a:ext cx="21945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5C5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٢٠ خدمة + ٣٠ POC تقع داخل بندين فقط من الـBOQ.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51792" y="0"/>
            <a:ext cx="137160" cy="6858000"/>
          </a:xfrm>
          <a:prstGeom prst="rect">
            <a:avLst/>
          </a:prstGeom>
          <a:solidFill>
            <a:srgbClr val="A42365"/>
          </a:solidFill>
          <a:ln w="12700">
            <a:solidFill>
              <a:srgbClr val="A42365"/>
            </a:solidFill>
            <a:prstDash val="solid"/>
          </a:ln>
        </p:spPr>
      </p:sp>
      <p:pic>
        <p:nvPicPr>
          <p:cNvPr id="3" name="Image 0" descr="/mnt/data/rashad_current/Rashad/Skill/08_BRAND_CURRENT/assets/rubix-consulting-current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10312"/>
            <a:ext cx="1417320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55280" y="256032"/>
            <a:ext cx="32004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77381"/>
                </a:solidFill>
              </a:rPr>
              <a:t>HOST-NATIVE TRACE · ARTIFACT_DRAFT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11480" y="6510528"/>
            <a:ext cx="20116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42365"/>
                </a:solidFill>
              </a:rPr>
              <a:t>DRAFT — NOT RELEASED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01984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08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94360" y="777240"/>
            <a:ext cx="68580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773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المتطلبات التقنية والبيانات والأمن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94360" y="1078992"/>
            <a:ext cx="786384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71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الصفحة التقنية يجب أن تعرض stack تشغيليًا، لا قائمة تقنيات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777240" y="1874520"/>
            <a:ext cx="6492240" cy="502920"/>
          </a:xfrm>
          <a:prstGeom prst="roundRect">
            <a:avLst>
              <a:gd name="adj" fmla="val 12727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DED5C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43600" y="1874520"/>
            <a:ext cx="1325880" cy="502920"/>
          </a:xfrm>
          <a:prstGeom prst="rect">
            <a:avLst/>
          </a:prstGeom>
          <a:solidFill>
            <a:srgbClr val="171527"/>
          </a:solidFill>
          <a:ln w="12700">
            <a:solidFill>
              <a:srgbClr val="17152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1984248"/>
            <a:ext cx="1097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تجربة المستخدم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60120" y="1984248"/>
            <a:ext cx="48006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80" dirty="0">
                <a:solidFill>
                  <a:srgbClr val="5C5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منصة · واجهات · لوحات · Design System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777240" y="2532888"/>
            <a:ext cx="6492240" cy="502920"/>
          </a:xfrm>
          <a:prstGeom prst="roundRect">
            <a:avLst>
              <a:gd name="adj" fmla="val 12727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DED5C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943600" y="2532888"/>
            <a:ext cx="1325880" cy="502920"/>
          </a:xfrm>
          <a:prstGeom prst="rect">
            <a:avLst/>
          </a:prstGeom>
          <a:solidFill>
            <a:srgbClr val="171527"/>
          </a:solidFill>
          <a:ln w="12700">
            <a:solidFill>
              <a:srgbClr val="1715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53328" y="2642616"/>
            <a:ext cx="1097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التكامل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960120" y="2642616"/>
            <a:ext cx="48006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80" dirty="0">
                <a:solidFill>
                  <a:srgbClr val="5C5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 / Middleware · ربط داخلي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777240" y="3191256"/>
            <a:ext cx="6492240" cy="502920"/>
          </a:xfrm>
          <a:prstGeom prst="roundRect">
            <a:avLst>
              <a:gd name="adj" fmla="val 12727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DED5C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943600" y="3191256"/>
            <a:ext cx="1325880" cy="502920"/>
          </a:xfrm>
          <a:prstGeom prst="rect">
            <a:avLst/>
          </a:prstGeom>
          <a:solidFill>
            <a:srgbClr val="171527"/>
          </a:solidFill>
          <a:ln w="12700">
            <a:solidFill>
              <a:srgbClr val="17152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53328" y="3300984"/>
            <a:ext cx="1097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البيانات و AI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960120" y="3300984"/>
            <a:ext cx="48006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80" dirty="0">
                <a:solidFill>
                  <a:srgbClr val="5C5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تصنيف · توقع · تحليل أنماط · ML Ops</a:t>
            </a:r>
            <a:endParaRPr lang="en-US" sz="1080" dirty="0"/>
          </a:p>
        </p:txBody>
      </p:sp>
      <p:sp>
        <p:nvSpPr>
          <p:cNvPr id="21" name="Shape 18"/>
          <p:cNvSpPr/>
          <p:nvPr/>
        </p:nvSpPr>
        <p:spPr>
          <a:xfrm>
            <a:off x="777240" y="3849624"/>
            <a:ext cx="6492240" cy="502920"/>
          </a:xfrm>
          <a:prstGeom prst="roundRect">
            <a:avLst>
              <a:gd name="adj" fmla="val 12727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DED5C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943600" y="3849624"/>
            <a:ext cx="1325880" cy="502920"/>
          </a:xfrm>
          <a:prstGeom prst="rect">
            <a:avLst/>
          </a:prstGeom>
          <a:solidFill>
            <a:srgbClr val="171527"/>
          </a:solidFill>
          <a:ln w="12700">
            <a:solidFill>
              <a:srgbClr val="1715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53328" y="3959352"/>
            <a:ext cx="1097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الأمن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960120" y="3959352"/>
            <a:ext cx="48006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80" dirty="0">
                <a:solidFill>
                  <a:srgbClr val="5C5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IAM · MFA · SIEM · WAF · VAPT</a:t>
            </a:r>
            <a:endParaRPr lang="en-US" sz="1080" dirty="0"/>
          </a:p>
        </p:txBody>
      </p:sp>
      <p:sp>
        <p:nvSpPr>
          <p:cNvPr id="25" name="Shape 22"/>
          <p:cNvSpPr/>
          <p:nvPr/>
        </p:nvSpPr>
        <p:spPr>
          <a:xfrm>
            <a:off x="777240" y="4507992"/>
            <a:ext cx="6492240" cy="502920"/>
          </a:xfrm>
          <a:prstGeom prst="roundRect">
            <a:avLst>
              <a:gd name="adj" fmla="val 12727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DED5C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943600" y="4507992"/>
            <a:ext cx="1325880" cy="502920"/>
          </a:xfrm>
          <a:prstGeom prst="rect">
            <a:avLst/>
          </a:prstGeom>
          <a:solidFill>
            <a:srgbClr val="171527"/>
          </a:solidFill>
          <a:ln w="12700">
            <a:solidFill>
              <a:srgbClr val="17152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053328" y="4617720"/>
            <a:ext cx="1097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البنية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960120" y="4617720"/>
            <a:ext cx="48006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80" dirty="0">
                <a:solidFill>
                  <a:srgbClr val="5C5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On-Prem · HA · Backup · DR · Monitoring</a:t>
            </a:r>
            <a:endParaRPr lang="en-US" sz="1080" dirty="0"/>
          </a:p>
        </p:txBody>
      </p:sp>
      <p:sp>
        <p:nvSpPr>
          <p:cNvPr id="29" name="Shape 26"/>
          <p:cNvSpPr/>
          <p:nvPr/>
        </p:nvSpPr>
        <p:spPr>
          <a:xfrm>
            <a:off x="777240" y="5166360"/>
            <a:ext cx="6492240" cy="502920"/>
          </a:xfrm>
          <a:prstGeom prst="roundRect">
            <a:avLst>
              <a:gd name="adj" fmla="val 12727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DED5CA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943600" y="5166360"/>
            <a:ext cx="1325880" cy="502920"/>
          </a:xfrm>
          <a:prstGeom prst="rect">
            <a:avLst/>
          </a:prstGeom>
          <a:solidFill>
            <a:srgbClr val="171527"/>
          </a:solidFill>
          <a:ln w="12700">
            <a:solidFill>
              <a:srgbClr val="17152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053328" y="5276088"/>
            <a:ext cx="1097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التشغيل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960120" y="5276088"/>
            <a:ext cx="48006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80" dirty="0">
                <a:solidFill>
                  <a:srgbClr val="5C5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· Rollback · Versioning · Runbook</a:t>
            </a:r>
            <a:endParaRPr lang="en-US" sz="1080" dirty="0"/>
          </a:p>
        </p:txBody>
      </p:sp>
      <p:sp>
        <p:nvSpPr>
          <p:cNvPr id="33" name="Shape 30"/>
          <p:cNvSpPr/>
          <p:nvPr/>
        </p:nvSpPr>
        <p:spPr>
          <a:xfrm>
            <a:off x="7818120" y="2240280"/>
            <a:ext cx="292608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0689336" y="2240280"/>
            <a:ext cx="54864" cy="1463040"/>
          </a:xfrm>
          <a:prstGeom prst="rect">
            <a:avLst/>
          </a:prstGeom>
          <a:solidFill>
            <a:srgbClr val="D32A45"/>
          </a:solidFill>
          <a:ln w="12700">
            <a:solidFill>
              <a:srgbClr val="D32A4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955280" y="2331720"/>
            <a:ext cx="269748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71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تعارض حرج: حظر التقنيات مفتوحة المصدر يحتاج تفسيرًا رسميًا قبل تثبيت المعمارية والتسعير.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51792" y="0"/>
            <a:ext cx="137160" cy="6858000"/>
          </a:xfrm>
          <a:prstGeom prst="rect">
            <a:avLst/>
          </a:prstGeom>
          <a:solidFill>
            <a:srgbClr val="A42365"/>
          </a:solidFill>
          <a:ln w="12700">
            <a:solidFill>
              <a:srgbClr val="A42365"/>
            </a:solidFill>
            <a:prstDash val="solid"/>
          </a:ln>
        </p:spPr>
      </p:sp>
      <p:pic>
        <p:nvPicPr>
          <p:cNvPr id="3" name="Image 0" descr="/mnt/data/rashad_current/Rashad/Skill/08_BRAND_CURRENT/assets/rubix-consulting-current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10312"/>
            <a:ext cx="1417320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55280" y="256032"/>
            <a:ext cx="32004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77381"/>
                </a:solidFill>
              </a:rPr>
              <a:t>HOST-NATIVE TRACE · ARTIFACT_DRAFT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11480" y="6510528"/>
            <a:ext cx="20116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42365"/>
                </a:solidFill>
              </a:rPr>
              <a:t>DRAFT — NOT RELEASED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01984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09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94360" y="777240"/>
            <a:ext cx="68580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773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القدرات المطلوبة لتنفيذ المشروع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94360" y="1078992"/>
            <a:ext cx="786384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71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الفريق ليس افتراضًا تشغيليًا؛ هو التزام تعاقدي يجب إثباته قبل GO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822960" y="2011680"/>
            <a:ext cx="228600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A423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٢٤</a:t>
            </a:r>
            <a:endParaRPr lang="en-US" sz="8000" dirty="0"/>
          </a:p>
        </p:txBody>
      </p:sp>
      <p:sp>
        <p:nvSpPr>
          <p:cNvPr id="10" name="Text 7"/>
          <p:cNvSpPr/>
          <p:nvPr/>
        </p:nvSpPr>
        <p:spPr>
          <a:xfrm>
            <a:off x="868680" y="3200400"/>
            <a:ext cx="219456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1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موردًا إلزاميًا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1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عبر ١٢ دورًا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68680" y="3977640"/>
            <a:ext cx="219456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50" dirty="0">
                <a:solidFill>
                  <a:srgbClr val="5C5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 CVs، مقابلات، موافقات أمنية، تقييم شهري، واستبدال خلال أسبوعين.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503920" y="1965960"/>
            <a:ext cx="1828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71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تحليل أعمال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794760" y="2002536"/>
            <a:ext cx="4480560" cy="146304"/>
          </a:xfrm>
          <a:prstGeom prst="roundRect">
            <a:avLst>
              <a:gd name="adj" fmla="val 31250"/>
            </a:avLst>
          </a:prstGeom>
          <a:solidFill>
            <a:srgbClr val="E6DDD2"/>
          </a:solidFill>
          <a:ln w="12700">
            <a:solidFill>
              <a:srgbClr val="E6DDD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288280" y="2002536"/>
            <a:ext cx="2987040" cy="146304"/>
          </a:xfrm>
          <a:prstGeom prst="roundRect">
            <a:avLst>
              <a:gd name="adj" fmla="val 31250"/>
            </a:avLst>
          </a:prstGeom>
          <a:solidFill>
            <a:srgbClr val="A42365"/>
          </a:solidFill>
          <a:ln w="12700">
            <a:solidFill>
              <a:srgbClr val="A4236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74720" y="1965960"/>
            <a:ext cx="2286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1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503920" y="2496312"/>
            <a:ext cx="1828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71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UX/UI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794760" y="2532888"/>
            <a:ext cx="4480560" cy="146304"/>
          </a:xfrm>
          <a:prstGeom prst="roundRect">
            <a:avLst>
              <a:gd name="adj" fmla="val 31250"/>
            </a:avLst>
          </a:prstGeom>
          <a:solidFill>
            <a:srgbClr val="E6DDD2"/>
          </a:solidFill>
          <a:ln w="12700">
            <a:solidFill>
              <a:srgbClr val="E6DDD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35040" y="2532888"/>
            <a:ext cx="2240280" cy="146304"/>
          </a:xfrm>
          <a:prstGeom prst="roundRect">
            <a:avLst>
              <a:gd name="adj" fmla="val 31250"/>
            </a:avLst>
          </a:prstGeom>
          <a:solidFill>
            <a:srgbClr val="077381"/>
          </a:solidFill>
          <a:ln w="12700">
            <a:solidFill>
              <a:srgbClr val="07738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74720" y="2496312"/>
            <a:ext cx="2286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1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503920" y="3026664"/>
            <a:ext cx="1828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71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3794760" y="3063240"/>
            <a:ext cx="4480560" cy="146304"/>
          </a:xfrm>
          <a:prstGeom prst="roundRect">
            <a:avLst>
              <a:gd name="adj" fmla="val 31250"/>
            </a:avLst>
          </a:prstGeom>
          <a:solidFill>
            <a:srgbClr val="E6DDD2"/>
          </a:solidFill>
          <a:ln w="12700">
            <a:solidFill>
              <a:srgbClr val="E6DDD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288280" y="3063240"/>
            <a:ext cx="2987040" cy="146304"/>
          </a:xfrm>
          <a:prstGeom prst="roundRect">
            <a:avLst>
              <a:gd name="adj" fmla="val 31250"/>
            </a:avLst>
          </a:prstGeom>
          <a:solidFill>
            <a:srgbClr val="A42365"/>
          </a:solidFill>
          <a:ln w="12700">
            <a:solidFill>
              <a:srgbClr val="A4236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474720" y="3026664"/>
            <a:ext cx="2286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1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8503920" y="3557016"/>
            <a:ext cx="1828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71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هندسة برمجية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3794760" y="3593592"/>
            <a:ext cx="4480560" cy="146304"/>
          </a:xfrm>
          <a:prstGeom prst="roundRect">
            <a:avLst>
              <a:gd name="adj" fmla="val 31250"/>
            </a:avLst>
          </a:prstGeom>
          <a:solidFill>
            <a:srgbClr val="E6DDD2"/>
          </a:solidFill>
          <a:ln w="12700">
            <a:solidFill>
              <a:srgbClr val="E6DDD2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794760" y="3593592"/>
            <a:ext cx="4480560" cy="146304"/>
          </a:xfrm>
          <a:prstGeom prst="roundRect">
            <a:avLst>
              <a:gd name="adj" fmla="val 31250"/>
            </a:avLst>
          </a:prstGeom>
          <a:solidFill>
            <a:srgbClr val="077381"/>
          </a:solidFill>
          <a:ln w="12700">
            <a:solidFill>
              <a:srgbClr val="07738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74720" y="3557016"/>
            <a:ext cx="2286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1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8503920" y="4087368"/>
            <a:ext cx="1828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71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3794760" y="4123944"/>
            <a:ext cx="4480560" cy="146304"/>
          </a:xfrm>
          <a:prstGeom prst="roundRect">
            <a:avLst>
              <a:gd name="adj" fmla="val 31250"/>
            </a:avLst>
          </a:prstGeom>
          <a:solidFill>
            <a:srgbClr val="E6DDD2"/>
          </a:solidFill>
          <a:ln w="12700">
            <a:solidFill>
              <a:srgbClr val="E6DDD2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035040" y="4123944"/>
            <a:ext cx="2240280" cy="146304"/>
          </a:xfrm>
          <a:prstGeom prst="roundRect">
            <a:avLst>
              <a:gd name="adj" fmla="val 31250"/>
            </a:avLst>
          </a:prstGeom>
          <a:solidFill>
            <a:srgbClr val="A42365"/>
          </a:solidFill>
          <a:ln w="12700">
            <a:solidFill>
              <a:srgbClr val="A4236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474720" y="4087368"/>
            <a:ext cx="2286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1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8503920" y="4617720"/>
            <a:ext cx="1828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71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/ Mobile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3794760" y="4654296"/>
            <a:ext cx="4480560" cy="146304"/>
          </a:xfrm>
          <a:prstGeom prst="roundRect">
            <a:avLst>
              <a:gd name="adj" fmla="val 31250"/>
            </a:avLst>
          </a:prstGeom>
          <a:solidFill>
            <a:srgbClr val="E6DDD2"/>
          </a:solidFill>
          <a:ln w="12700">
            <a:solidFill>
              <a:srgbClr val="E6DDD2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288280" y="4654296"/>
            <a:ext cx="2987040" cy="146304"/>
          </a:xfrm>
          <a:prstGeom prst="roundRect">
            <a:avLst>
              <a:gd name="adj" fmla="val 31250"/>
            </a:avLst>
          </a:prstGeom>
          <a:solidFill>
            <a:srgbClr val="077381"/>
          </a:solidFill>
          <a:ln w="12700">
            <a:solidFill>
              <a:srgbClr val="077381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474720" y="4617720"/>
            <a:ext cx="2286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1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51792" y="0"/>
            <a:ext cx="137160" cy="6858000"/>
          </a:xfrm>
          <a:prstGeom prst="rect">
            <a:avLst/>
          </a:prstGeom>
          <a:solidFill>
            <a:srgbClr val="A42365"/>
          </a:solidFill>
          <a:ln w="12700">
            <a:solidFill>
              <a:srgbClr val="A42365"/>
            </a:solidFill>
            <a:prstDash val="solid"/>
          </a:ln>
        </p:spPr>
      </p:sp>
      <p:pic>
        <p:nvPicPr>
          <p:cNvPr id="3" name="Image 0" descr="/mnt/data/rashad_current/Rashad/Skill/08_BRAND_CURRENT/assets/rubix-consulting-current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10312"/>
            <a:ext cx="1417320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55280" y="256032"/>
            <a:ext cx="32004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77381"/>
                </a:solidFill>
              </a:rPr>
              <a:t>HOST-NATIVE TRACE · ARTIFACT_DRAFT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11480" y="6510528"/>
            <a:ext cx="20116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42365"/>
                </a:solidFill>
              </a:rPr>
              <a:t>DRAFT — NOT RELEASED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01984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10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94360" y="777240"/>
            <a:ext cx="68580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773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سيُقيَّم العرض؟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94360" y="1078992"/>
            <a:ext cx="786384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71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الفوز يمر أولًا عبر ٧٠٪ فنيًا، ثم يتحول إلى منافسة سعرية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914400" y="2423160"/>
            <a:ext cx="18288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240">
            <a:solidFill>
              <a:srgbClr val="DED5C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2633472"/>
            <a:ext cx="16459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تقييم فني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1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١٠٠ نقطة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2761488" y="2852928"/>
            <a:ext cx="576072" cy="0"/>
          </a:xfrm>
          <a:prstGeom prst="line">
            <a:avLst/>
          </a:prstGeom>
          <a:noFill/>
          <a:ln w="19050">
            <a:solidFill>
              <a:srgbClr val="A42365"/>
            </a:solidFill>
            <a:prstDash val="solid"/>
            <a:headEnd type="none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429000" y="2423160"/>
            <a:ext cx="18288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240">
            <a:solidFill>
              <a:srgbClr val="DED5C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520440" y="2633472"/>
            <a:ext cx="16459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اجتياز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1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٧٠ نقطة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276088" y="2852928"/>
            <a:ext cx="576072" cy="0"/>
          </a:xfrm>
          <a:prstGeom prst="line">
            <a:avLst/>
          </a:prstGeom>
          <a:noFill/>
          <a:ln w="19050">
            <a:solidFill>
              <a:srgbClr val="A42365"/>
            </a:solidFill>
            <a:prstDash val="solid"/>
            <a:headEnd type="none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5943600" y="2423160"/>
            <a:ext cx="18288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240">
            <a:solidFill>
              <a:srgbClr val="DED5C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35040" y="2633472"/>
            <a:ext cx="16459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قائمة مجتازين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1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فنيًا فقط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790688" y="2852928"/>
            <a:ext cx="576072" cy="0"/>
          </a:xfrm>
          <a:prstGeom prst="line">
            <a:avLst/>
          </a:prstGeom>
          <a:noFill/>
          <a:ln w="19050">
            <a:solidFill>
              <a:srgbClr val="A42365"/>
            </a:solidFill>
            <a:prstDash val="solid"/>
            <a:headEnd type="none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8458200" y="2423160"/>
            <a:ext cx="18288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240">
            <a:solidFill>
              <a:srgbClr val="DED5C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549640" y="2633472"/>
            <a:ext cx="16459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ترسية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1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الأقل سعرًا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914400" y="4251960"/>
            <a:ext cx="274320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5400" b="1" dirty="0">
                <a:solidFill>
                  <a:srgbClr val="A423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٨٧.٥٪</a:t>
            </a:r>
            <a:endParaRPr lang="en-US" sz="5400" dirty="0"/>
          </a:p>
        </p:txBody>
      </p:sp>
      <p:sp>
        <p:nvSpPr>
          <p:cNvPr id="21" name="Text 18"/>
          <p:cNvSpPr/>
          <p:nvPr/>
        </p:nvSpPr>
        <p:spPr>
          <a:xfrm>
            <a:off x="3840480" y="4343400"/>
            <a:ext cx="493776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700" dirty="0">
                <a:solidFill>
                  <a:srgbClr val="171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بقية النقاط إذا كانت خبرة المشاريع المشابهة = ٠/٢٠.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3840480" y="4983480"/>
            <a:ext cx="493776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723376" y="4983480"/>
            <a:ext cx="54864" cy="548640"/>
          </a:xfrm>
          <a:prstGeom prst="rect">
            <a:avLst/>
          </a:prstGeom>
          <a:solidFill>
            <a:srgbClr val="077381"/>
          </a:solidFill>
          <a:ln w="12700">
            <a:solidFill>
              <a:srgbClr val="07738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977640" y="5074920"/>
            <a:ext cx="470916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71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هذا رقم GO/NO-GO حقيقي للجاهزية الفنية، وليس تفصيلة تقييم.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51792" y="0"/>
            <a:ext cx="137160" cy="6858000"/>
          </a:xfrm>
          <a:prstGeom prst="rect">
            <a:avLst/>
          </a:prstGeom>
          <a:solidFill>
            <a:srgbClr val="A42365"/>
          </a:solidFill>
          <a:ln w="12700">
            <a:solidFill>
              <a:srgbClr val="A42365"/>
            </a:solidFill>
            <a:prstDash val="solid"/>
          </a:ln>
        </p:spPr>
      </p:sp>
      <p:pic>
        <p:nvPicPr>
          <p:cNvPr id="3" name="Image 0" descr="/mnt/data/rashad_current/Rashad/Skill/08_BRAND_CURRENT/assets/rubix-consulting-current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10312"/>
            <a:ext cx="1417320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55280" y="256032"/>
            <a:ext cx="32004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77381"/>
                </a:solidFill>
              </a:rPr>
              <a:t>HOST-NATIVE TRACE · ARTIFACT_DRAFT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11480" y="6510528"/>
            <a:ext cx="20116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42365"/>
                </a:solidFill>
              </a:rPr>
              <a:t>DRAFT — NOT RELEASED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01984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11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94360" y="777240"/>
            <a:ext cx="68580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773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الالتزامات والمخاطر التجارية والمالية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94360" y="1078992"/>
            <a:ext cx="786384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71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صفحة CFO: ما الذي نلتزم به وما الذي يضغط على النقدية والهامش؟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731520" y="2286000"/>
            <a:ext cx="164592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A423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١٪</a:t>
            </a:r>
            <a:endParaRPr lang="en-US" sz="4200" dirty="0"/>
          </a:p>
        </p:txBody>
      </p:sp>
      <p:sp>
        <p:nvSpPr>
          <p:cNvPr id="10" name="Text 7"/>
          <p:cNvSpPr/>
          <p:nvPr/>
        </p:nvSpPr>
        <p:spPr>
          <a:xfrm>
            <a:off x="731520" y="2999232"/>
            <a:ext cx="16459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1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ضمان ابتدائي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1005840" y="3429000"/>
            <a:ext cx="1097280" cy="0"/>
          </a:xfrm>
          <a:prstGeom prst="line">
            <a:avLst/>
          </a:prstGeom>
          <a:noFill/>
          <a:ln w="25400">
            <a:solidFill>
              <a:srgbClr val="A4236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880360" y="2286000"/>
            <a:ext cx="164592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773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٥٪</a:t>
            </a:r>
            <a:endParaRPr lang="en-US" sz="4200" dirty="0"/>
          </a:p>
        </p:txBody>
      </p:sp>
      <p:sp>
        <p:nvSpPr>
          <p:cNvPr id="13" name="Text 10"/>
          <p:cNvSpPr/>
          <p:nvPr/>
        </p:nvSpPr>
        <p:spPr>
          <a:xfrm>
            <a:off x="2880360" y="2999232"/>
            <a:ext cx="16459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1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ضمان نهائي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154680" y="3429000"/>
            <a:ext cx="1097280" cy="0"/>
          </a:xfrm>
          <a:prstGeom prst="line">
            <a:avLst/>
          </a:prstGeom>
          <a:noFill/>
          <a:ln w="25400">
            <a:solidFill>
              <a:srgbClr val="07738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0" y="2286000"/>
            <a:ext cx="164592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3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٢٠٪</a:t>
            </a:r>
            <a:endParaRPr lang="en-US" sz="4200" dirty="0"/>
          </a:p>
        </p:txBody>
      </p:sp>
      <p:sp>
        <p:nvSpPr>
          <p:cNvPr id="16" name="Text 13"/>
          <p:cNvSpPr/>
          <p:nvPr/>
        </p:nvSpPr>
        <p:spPr>
          <a:xfrm>
            <a:off x="5029200" y="2999232"/>
            <a:ext cx="16459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1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غرامات محتملة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303520" y="3429000"/>
            <a:ext cx="1097280" cy="0"/>
          </a:xfrm>
          <a:prstGeom prst="line">
            <a:avLst/>
          </a:prstGeom>
          <a:noFill/>
          <a:ln w="25400">
            <a:solidFill>
              <a:srgbClr val="D32A4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178040" y="2286000"/>
            <a:ext cx="164592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407A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٢٤</a:t>
            </a:r>
            <a:endParaRPr lang="en-US" sz="4200" dirty="0"/>
          </a:p>
        </p:txBody>
      </p:sp>
      <p:sp>
        <p:nvSpPr>
          <p:cNvPr id="19" name="Text 16"/>
          <p:cNvSpPr/>
          <p:nvPr/>
        </p:nvSpPr>
        <p:spPr>
          <a:xfrm>
            <a:off x="7178040" y="2999232"/>
            <a:ext cx="16459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1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فريق إلزامي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7452360" y="3429000"/>
            <a:ext cx="1097280" cy="0"/>
          </a:xfrm>
          <a:prstGeom prst="line">
            <a:avLst/>
          </a:prstGeom>
          <a:noFill/>
          <a:ln w="25400">
            <a:solidFill>
              <a:srgbClr val="407AB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326880" y="2286000"/>
            <a:ext cx="164592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15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١٢</a:t>
            </a:r>
            <a:endParaRPr lang="en-US" sz="4200" dirty="0"/>
          </a:p>
        </p:txBody>
      </p:sp>
      <p:sp>
        <p:nvSpPr>
          <p:cNvPr id="22" name="Text 19"/>
          <p:cNvSpPr/>
          <p:nvPr/>
        </p:nvSpPr>
        <p:spPr>
          <a:xfrm>
            <a:off x="9326880" y="2999232"/>
            <a:ext cx="16459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1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شهر دعم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9601200" y="3429000"/>
            <a:ext cx="1097280" cy="0"/>
          </a:xfrm>
          <a:prstGeom prst="line">
            <a:avLst/>
          </a:prstGeom>
          <a:noFill/>
          <a:ln w="25400">
            <a:solidFill>
              <a:srgbClr val="F15A2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280160" y="4572000"/>
            <a:ext cx="8412480" cy="731520"/>
          </a:xfrm>
          <a:prstGeom prst="roundRect">
            <a:avLst>
              <a:gd name="adj" fmla="val 1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637776" y="4572000"/>
            <a:ext cx="54864" cy="731520"/>
          </a:xfrm>
          <a:prstGeom prst="rect">
            <a:avLst/>
          </a:prstGeom>
          <a:solidFill>
            <a:srgbClr val="A42365"/>
          </a:solidFill>
          <a:ln w="12700">
            <a:solidFill>
              <a:srgbClr val="A4236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17320" y="4663440"/>
            <a:ext cx="818388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71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يوجد سعر آمن قبل بناء Cost Model وCash-Flow Model وتحديد التراخيص والضمانات واحتياطي مخاطر الـPOCs.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51792" y="0"/>
            <a:ext cx="137160" cy="6858000"/>
          </a:xfrm>
          <a:prstGeom prst="rect">
            <a:avLst/>
          </a:prstGeom>
          <a:solidFill>
            <a:srgbClr val="A42365"/>
          </a:solidFill>
          <a:ln w="12700">
            <a:solidFill>
              <a:srgbClr val="A42365"/>
            </a:solidFill>
            <a:prstDash val="solid"/>
          </a:ln>
        </p:spPr>
      </p:sp>
      <p:pic>
        <p:nvPicPr>
          <p:cNvPr id="3" name="Image 0" descr="/mnt/data/rashad_current/Rashad/Skill/08_BRAND_CURRENT/assets/rubix-consulting-current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10312"/>
            <a:ext cx="1417320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55280" y="256032"/>
            <a:ext cx="32004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77381"/>
                </a:solidFill>
              </a:rPr>
              <a:t>HOST-NATIVE TRACE · ARTIFACT_DRAFT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11480" y="6510528"/>
            <a:ext cx="20116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42365"/>
                </a:solidFill>
              </a:rPr>
              <a:t>DRAFT — NOT RELEASED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01984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12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94360" y="777240"/>
            <a:ext cx="68580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773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الاستفسارات التي تغيّر القرار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94360" y="1078992"/>
            <a:ext cx="786384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71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ليست كل الأسئلة متساوية؛ بعضها يجب حسمه قبل التسعير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731520" y="2103120"/>
            <a:ext cx="4800600" cy="1234440"/>
          </a:xfrm>
          <a:prstGeom prst="roundRect">
            <a:avLst>
              <a:gd name="adj" fmla="val 7407"/>
            </a:avLst>
          </a:prstGeom>
          <a:solidFill>
            <a:srgbClr val="FFFFFF">
              <a:alpha val="90000"/>
            </a:srgbClr>
          </a:solidFill>
          <a:ln w="31750">
            <a:solidFill>
              <a:srgbClr val="D32A4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2240280"/>
            <a:ext cx="4389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D3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عالي التأثير / عاجل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60120" y="2606040"/>
            <a:ext cx="42519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40" dirty="0">
                <a:solidFill>
                  <a:srgbClr val="5C5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حظر Open Source · مدة العقد · تعريف ٣٠ POC · تعريف ٢٠ خدمة · جدول الدفعات</a:t>
            </a:r>
            <a:endParaRPr lang="en-US" sz="1240" dirty="0"/>
          </a:p>
        </p:txBody>
      </p:sp>
      <p:sp>
        <p:nvSpPr>
          <p:cNvPr id="12" name="Shape 9"/>
          <p:cNvSpPr/>
          <p:nvPr/>
        </p:nvSpPr>
        <p:spPr>
          <a:xfrm>
            <a:off x="5943600" y="2103120"/>
            <a:ext cx="4800600" cy="1234440"/>
          </a:xfrm>
          <a:prstGeom prst="roundRect">
            <a:avLst>
              <a:gd name="adj" fmla="val 7407"/>
            </a:avLst>
          </a:prstGeom>
          <a:solidFill>
            <a:srgbClr val="FFFFFF">
              <a:alpha val="90000"/>
            </a:srgbClr>
          </a:solidFill>
          <a:ln w="15240">
            <a:solidFill>
              <a:srgbClr val="A4236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26480" y="2240280"/>
            <a:ext cx="4389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A423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عالي التأثير / أقل عجلة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172200" y="2606040"/>
            <a:ext cx="42519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40" dirty="0">
                <a:solidFill>
                  <a:srgbClr val="5C5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مسؤوليات المورد الحالي · أحجام المستخدمين · التراخيص المتاحة · التكاملات</a:t>
            </a:r>
            <a:endParaRPr lang="en-US" sz="1240" dirty="0"/>
          </a:p>
        </p:txBody>
      </p:sp>
      <p:sp>
        <p:nvSpPr>
          <p:cNvPr id="15" name="Shape 12"/>
          <p:cNvSpPr/>
          <p:nvPr/>
        </p:nvSpPr>
        <p:spPr>
          <a:xfrm>
            <a:off x="731520" y="3703320"/>
            <a:ext cx="4800600" cy="1234440"/>
          </a:xfrm>
          <a:prstGeom prst="roundRect">
            <a:avLst>
              <a:gd name="adj" fmla="val 7407"/>
            </a:avLst>
          </a:prstGeom>
          <a:solidFill>
            <a:srgbClr val="FFFFFF">
              <a:alpha val="90000"/>
            </a:srgbClr>
          </a:solidFill>
          <a:ln w="15240">
            <a:solidFill>
              <a:srgbClr val="F15A2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3840480"/>
            <a:ext cx="4389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15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متوسط التأثير / عاجل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960120" y="4206240"/>
            <a:ext cx="42519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40" dirty="0">
                <a:solidFill>
                  <a:srgbClr val="5C5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صياغة قبول بعض المخرجات · آلية الاستبدال · تفاصيل الحضور بالموقع</a:t>
            </a:r>
            <a:endParaRPr lang="en-US" sz="1240" dirty="0"/>
          </a:p>
        </p:txBody>
      </p:sp>
      <p:sp>
        <p:nvSpPr>
          <p:cNvPr id="18" name="Shape 15"/>
          <p:cNvSpPr/>
          <p:nvPr/>
        </p:nvSpPr>
        <p:spPr>
          <a:xfrm>
            <a:off x="5943600" y="3703320"/>
            <a:ext cx="4800600" cy="1234440"/>
          </a:xfrm>
          <a:prstGeom prst="roundRect">
            <a:avLst>
              <a:gd name="adj" fmla="val 7407"/>
            </a:avLst>
          </a:prstGeom>
          <a:solidFill>
            <a:srgbClr val="FFFFFF">
              <a:alpha val="90000"/>
            </a:srgbClr>
          </a:solidFill>
          <a:ln w="15240">
            <a:solidFill>
              <a:srgbClr val="07738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26480" y="3840480"/>
            <a:ext cx="4389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773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متوسط التأثير / أقل عجلة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172200" y="4206240"/>
            <a:ext cx="42519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40" dirty="0">
                <a:solidFill>
                  <a:srgbClr val="5C5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تفاصيل تشغيلية يمكن تثبيتها بعد اتضاح نطاق السعر</a:t>
            </a:r>
            <a:endParaRPr lang="en-US" sz="12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51792" y="0"/>
            <a:ext cx="137160" cy="6858000"/>
          </a:xfrm>
          <a:prstGeom prst="rect">
            <a:avLst/>
          </a:prstGeom>
          <a:solidFill>
            <a:srgbClr val="A42365"/>
          </a:solidFill>
          <a:ln w="12700">
            <a:solidFill>
              <a:srgbClr val="A42365"/>
            </a:solidFill>
            <a:prstDash val="solid"/>
          </a:ln>
        </p:spPr>
      </p:sp>
      <p:pic>
        <p:nvPicPr>
          <p:cNvPr id="3" name="Image 0" descr="/mnt/data/rashad_current/Rashad/Skill/08_BRAND_CURRENT/assets/rubix-consulting-current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10312"/>
            <a:ext cx="1417320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55280" y="256032"/>
            <a:ext cx="32004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77381"/>
                </a:solidFill>
              </a:rPr>
              <a:t>HOST-NATIVE TRACE · ARTIFACT_DRAFT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11480" y="6510528"/>
            <a:ext cx="20116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42365"/>
                </a:solidFill>
              </a:rPr>
              <a:t>DRAFT — NOT RELEASED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01984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13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94360" y="777240"/>
            <a:ext cx="68580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773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قرار الدخول وشروط النجاح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94360" y="1078992"/>
            <a:ext cx="786384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71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القرار لا يتحول إلى GO إلا بإغلاق بوابات جاهزية محددة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4389120" y="1920240"/>
            <a:ext cx="6126480" cy="310896"/>
          </a:xfrm>
          <a:prstGeom prst="roundRect">
            <a:avLst>
              <a:gd name="adj" fmla="val 23529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ED5C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06640" y="1975104"/>
            <a:ext cx="283464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80" b="1" dirty="0">
                <a:solidFill>
                  <a:srgbClr val="171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خبرة سعودية مشابهة</a:t>
            </a:r>
            <a:endParaRPr lang="en-US" sz="1080" dirty="0"/>
          </a:p>
        </p:txBody>
      </p:sp>
      <p:sp>
        <p:nvSpPr>
          <p:cNvPr id="11" name="Text 8"/>
          <p:cNvSpPr/>
          <p:nvPr/>
        </p:nvSpPr>
        <p:spPr>
          <a:xfrm>
            <a:off x="4663440" y="1965960"/>
            <a:ext cx="155448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423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غير مثبتة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389120" y="2331720"/>
            <a:ext cx="6126480" cy="310896"/>
          </a:xfrm>
          <a:prstGeom prst="roundRect">
            <a:avLst>
              <a:gd name="adj" fmla="val 23529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ED5C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06640" y="2386584"/>
            <a:ext cx="283464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80" b="1" dirty="0">
                <a:solidFill>
                  <a:srgbClr val="171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شهادات ISO المطلوبة</a:t>
            </a:r>
            <a:endParaRPr lang="en-US" sz="1080" dirty="0"/>
          </a:p>
        </p:txBody>
      </p:sp>
      <p:sp>
        <p:nvSpPr>
          <p:cNvPr id="14" name="Text 11"/>
          <p:cNvSpPr/>
          <p:nvPr/>
        </p:nvSpPr>
        <p:spPr>
          <a:xfrm>
            <a:off x="4663440" y="2377440"/>
            <a:ext cx="155448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423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غير مثبتة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389120" y="2743200"/>
            <a:ext cx="6126480" cy="310896"/>
          </a:xfrm>
          <a:prstGeom prst="roundRect">
            <a:avLst>
              <a:gd name="adj" fmla="val 23529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ED5C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06640" y="2798064"/>
            <a:ext cx="283464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80" b="1" dirty="0">
                <a:solidFill>
                  <a:srgbClr val="171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جاهزية فريق ٢٤ فردًا</a:t>
            </a:r>
            <a:endParaRPr lang="en-US" sz="1080" dirty="0"/>
          </a:p>
        </p:txBody>
      </p:sp>
      <p:sp>
        <p:nvSpPr>
          <p:cNvPr id="17" name="Text 14"/>
          <p:cNvSpPr/>
          <p:nvPr/>
        </p:nvSpPr>
        <p:spPr>
          <a:xfrm>
            <a:off x="4663440" y="2788920"/>
            <a:ext cx="155448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423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غير مثبتة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389120" y="3154680"/>
            <a:ext cx="6126480" cy="310896"/>
          </a:xfrm>
          <a:prstGeom prst="roundRect">
            <a:avLst>
              <a:gd name="adj" fmla="val 23529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ED5C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06640" y="3209544"/>
            <a:ext cx="283464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80" b="1" dirty="0">
                <a:solidFill>
                  <a:srgbClr val="171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تعارض التقنيات مفتوحة المصدر</a:t>
            </a:r>
            <a:endParaRPr lang="en-US" sz="1080" dirty="0"/>
          </a:p>
        </p:txBody>
      </p:sp>
      <p:sp>
        <p:nvSpPr>
          <p:cNvPr id="20" name="Text 17"/>
          <p:cNvSpPr/>
          <p:nvPr/>
        </p:nvSpPr>
        <p:spPr>
          <a:xfrm>
            <a:off x="4663440" y="3200400"/>
            <a:ext cx="155448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15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مفتوح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389120" y="3566160"/>
            <a:ext cx="6126480" cy="310896"/>
          </a:xfrm>
          <a:prstGeom prst="roundRect">
            <a:avLst>
              <a:gd name="adj" fmla="val 23529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ED5C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406640" y="3621024"/>
            <a:ext cx="283464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80" b="1" dirty="0">
                <a:solidFill>
                  <a:srgbClr val="171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تفكيك ٢٠ خدمة + ٣٠ POC</a:t>
            </a:r>
            <a:endParaRPr lang="en-US" sz="1080" dirty="0"/>
          </a:p>
        </p:txBody>
      </p:sp>
      <p:sp>
        <p:nvSpPr>
          <p:cNvPr id="23" name="Text 20"/>
          <p:cNvSpPr/>
          <p:nvPr/>
        </p:nvSpPr>
        <p:spPr>
          <a:xfrm>
            <a:off x="4663440" y="3611880"/>
            <a:ext cx="155448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15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مفتوح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389120" y="3977640"/>
            <a:ext cx="6126480" cy="310896"/>
          </a:xfrm>
          <a:prstGeom prst="roundRect">
            <a:avLst>
              <a:gd name="adj" fmla="val 23529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ED5C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406640" y="4032504"/>
            <a:ext cx="283464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80" b="1" dirty="0">
                <a:solidFill>
                  <a:srgbClr val="171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/ cash-flow model</a:t>
            </a:r>
            <a:endParaRPr lang="en-US" sz="1080" dirty="0"/>
          </a:p>
        </p:txBody>
      </p:sp>
      <p:sp>
        <p:nvSpPr>
          <p:cNvPr id="26" name="Text 23"/>
          <p:cNvSpPr/>
          <p:nvPr/>
        </p:nvSpPr>
        <p:spPr>
          <a:xfrm>
            <a:off x="4663440" y="4023360"/>
            <a:ext cx="155448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423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مطلوب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4389120" y="4389120"/>
            <a:ext cx="6126480" cy="310896"/>
          </a:xfrm>
          <a:prstGeom prst="roundRect">
            <a:avLst>
              <a:gd name="adj" fmla="val 23529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ED5C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406640" y="4443984"/>
            <a:ext cx="283464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80" b="1" dirty="0">
                <a:solidFill>
                  <a:srgbClr val="171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مسار الوصول إلى ٧٠٪ فنيًا</a:t>
            </a:r>
            <a:endParaRPr lang="en-US" sz="1080" dirty="0"/>
          </a:p>
        </p:txBody>
      </p:sp>
      <p:sp>
        <p:nvSpPr>
          <p:cNvPr id="29" name="Text 26"/>
          <p:cNvSpPr/>
          <p:nvPr/>
        </p:nvSpPr>
        <p:spPr>
          <a:xfrm>
            <a:off x="4663440" y="4434840"/>
            <a:ext cx="155448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423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مطلوب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4389120" y="4800600"/>
            <a:ext cx="6126480" cy="310896"/>
          </a:xfrm>
          <a:prstGeom prst="roundRect">
            <a:avLst>
              <a:gd name="adj" fmla="val 23529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ED5C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406640" y="4855464"/>
            <a:ext cx="283464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80" b="1" dirty="0">
                <a:solidFill>
                  <a:srgbClr val="171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أرضية السعر الآمن</a:t>
            </a:r>
            <a:endParaRPr lang="en-US" sz="1080" dirty="0"/>
          </a:p>
        </p:txBody>
      </p:sp>
      <p:sp>
        <p:nvSpPr>
          <p:cNvPr id="32" name="Text 29"/>
          <p:cNvSpPr/>
          <p:nvPr/>
        </p:nvSpPr>
        <p:spPr>
          <a:xfrm>
            <a:off x="4663440" y="4846320"/>
            <a:ext cx="1554480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423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مطلوب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868680" y="2423160"/>
            <a:ext cx="265176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A423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</a:t>
            </a:r>
            <a:endParaRPr lang="en-US" sz="5000" dirty="0"/>
          </a:p>
        </p:txBody>
      </p:sp>
      <p:sp>
        <p:nvSpPr>
          <p:cNvPr id="34" name="Text 31"/>
          <p:cNvSpPr/>
          <p:nvPr/>
        </p:nvSpPr>
        <p:spPr>
          <a:xfrm>
            <a:off x="868680" y="3383280"/>
            <a:ext cx="265176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171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يتغير فقط عندما تتحول البوابات الحرجة إلى أدلة قابلة للتحقق.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51792" y="0"/>
            <a:ext cx="137160" cy="6858000"/>
          </a:xfrm>
          <a:prstGeom prst="rect">
            <a:avLst/>
          </a:prstGeom>
          <a:solidFill>
            <a:srgbClr val="A42365"/>
          </a:solidFill>
          <a:ln w="12700">
            <a:solidFill>
              <a:srgbClr val="A42365"/>
            </a:solidFill>
            <a:prstDash val="solid"/>
          </a:ln>
        </p:spPr>
      </p:sp>
      <p:pic>
        <p:nvPicPr>
          <p:cNvPr id="3" name="Image 0" descr="/mnt/data/rashad_current/Rashad/Skill/08_BRAND_CURRENT/assets/rubix-consulting-current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10312"/>
            <a:ext cx="1417320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55280" y="256032"/>
            <a:ext cx="32004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77381"/>
                </a:solidFill>
              </a:rPr>
              <a:t>HOST-NATIVE TRACE · ARTIFACT_DRAFT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11480" y="6510528"/>
            <a:ext cx="20116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42365"/>
                </a:solidFill>
              </a:rPr>
              <a:t>DRAFT — NOT RELEASED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01984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14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94360" y="777240"/>
            <a:ext cx="68580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773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الخطة المقترحة قبل قرار GO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94360" y="1078992"/>
            <a:ext cx="786384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71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 Readiness Sprint لمدة أسبوع واحد لإغلاق أسباب التعليق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640080" y="2331720"/>
            <a:ext cx="1325880" cy="2011680"/>
          </a:xfrm>
          <a:prstGeom prst="roundRect">
            <a:avLst>
              <a:gd name="adj" fmla="val 551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ED5C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2542032"/>
            <a:ext cx="5486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423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749808" y="3063240"/>
            <a:ext cx="10972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30" dirty="0">
                <a:solidFill>
                  <a:srgbClr val="171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تثبيت source pack والاستفسارات</a:t>
            </a:r>
            <a:endParaRPr lang="en-US" sz="1030" dirty="0"/>
          </a:p>
        </p:txBody>
      </p:sp>
      <p:sp>
        <p:nvSpPr>
          <p:cNvPr id="12" name="Shape 9"/>
          <p:cNvSpPr/>
          <p:nvPr/>
        </p:nvSpPr>
        <p:spPr>
          <a:xfrm>
            <a:off x="2267712" y="2331720"/>
            <a:ext cx="1325880" cy="2011680"/>
          </a:xfrm>
          <a:prstGeom prst="roundRect">
            <a:avLst>
              <a:gd name="adj" fmla="val 551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ED5C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633472" y="2542032"/>
            <a:ext cx="5486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423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377440" y="3063240"/>
            <a:ext cx="10972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30" dirty="0">
                <a:solidFill>
                  <a:srgbClr val="171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تحقق الخبرات والشهادات</a:t>
            </a:r>
            <a:endParaRPr lang="en-US" sz="1030" dirty="0"/>
          </a:p>
        </p:txBody>
      </p:sp>
      <p:sp>
        <p:nvSpPr>
          <p:cNvPr id="15" name="Shape 12"/>
          <p:cNvSpPr/>
          <p:nvPr/>
        </p:nvSpPr>
        <p:spPr>
          <a:xfrm>
            <a:off x="3895344" y="2331720"/>
            <a:ext cx="1325880" cy="2011680"/>
          </a:xfrm>
          <a:prstGeom prst="roundRect">
            <a:avLst>
              <a:gd name="adj" fmla="val 551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ED5C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261104" y="2542032"/>
            <a:ext cx="5486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423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4005072" y="3063240"/>
            <a:ext cx="10972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30" dirty="0">
                <a:solidFill>
                  <a:srgbClr val="171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تأكيد الفريق والـCVs</a:t>
            </a:r>
            <a:endParaRPr lang="en-US" sz="1030" dirty="0"/>
          </a:p>
        </p:txBody>
      </p:sp>
      <p:sp>
        <p:nvSpPr>
          <p:cNvPr id="18" name="Shape 15"/>
          <p:cNvSpPr/>
          <p:nvPr/>
        </p:nvSpPr>
        <p:spPr>
          <a:xfrm>
            <a:off x="5522976" y="2331720"/>
            <a:ext cx="1325880" cy="2011680"/>
          </a:xfrm>
          <a:prstGeom prst="roundRect">
            <a:avLst>
              <a:gd name="adj" fmla="val 551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ED5C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888736" y="2542032"/>
            <a:ext cx="5486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423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5632704" y="3063240"/>
            <a:ext cx="10972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30" dirty="0">
                <a:solidFill>
                  <a:srgbClr val="171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تفكيك الخدمات والـPOCs</a:t>
            </a:r>
            <a:endParaRPr lang="en-US" sz="1030" dirty="0"/>
          </a:p>
        </p:txBody>
      </p:sp>
      <p:sp>
        <p:nvSpPr>
          <p:cNvPr id="21" name="Shape 18"/>
          <p:cNvSpPr/>
          <p:nvPr/>
        </p:nvSpPr>
        <p:spPr>
          <a:xfrm>
            <a:off x="7150608" y="2331720"/>
            <a:ext cx="1325880" cy="2011680"/>
          </a:xfrm>
          <a:prstGeom prst="roundRect">
            <a:avLst>
              <a:gd name="adj" fmla="val 551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ED5C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516368" y="2542032"/>
            <a:ext cx="5486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423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7260336" y="3063240"/>
            <a:ext cx="10972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30" dirty="0">
                <a:solidFill>
                  <a:srgbClr val="171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تثبيت المعمارية والتراخيص</a:t>
            </a:r>
            <a:endParaRPr lang="en-US" sz="1030" dirty="0"/>
          </a:p>
        </p:txBody>
      </p:sp>
      <p:sp>
        <p:nvSpPr>
          <p:cNvPr id="24" name="Shape 21"/>
          <p:cNvSpPr/>
          <p:nvPr/>
        </p:nvSpPr>
        <p:spPr>
          <a:xfrm>
            <a:off x="8778240" y="2331720"/>
            <a:ext cx="1325880" cy="2011680"/>
          </a:xfrm>
          <a:prstGeom prst="roundRect">
            <a:avLst>
              <a:gd name="adj" fmla="val 551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ED5C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144000" y="2542032"/>
            <a:ext cx="5486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423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400" dirty="0"/>
          </a:p>
        </p:txBody>
      </p:sp>
      <p:sp>
        <p:nvSpPr>
          <p:cNvPr id="26" name="Text 23"/>
          <p:cNvSpPr/>
          <p:nvPr/>
        </p:nvSpPr>
        <p:spPr>
          <a:xfrm>
            <a:off x="8887968" y="3063240"/>
            <a:ext cx="10972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30" dirty="0">
                <a:solidFill>
                  <a:srgbClr val="171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/ cash-flow / guarantees</a:t>
            </a:r>
            <a:endParaRPr lang="en-US" sz="1030" dirty="0"/>
          </a:p>
        </p:txBody>
      </p:sp>
      <p:sp>
        <p:nvSpPr>
          <p:cNvPr id="27" name="Shape 24"/>
          <p:cNvSpPr/>
          <p:nvPr/>
        </p:nvSpPr>
        <p:spPr>
          <a:xfrm>
            <a:off x="10405872" y="2331720"/>
            <a:ext cx="1325880" cy="2011680"/>
          </a:xfrm>
          <a:prstGeom prst="roundRect">
            <a:avLst>
              <a:gd name="adj" fmla="val 551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ED5C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771632" y="2542032"/>
            <a:ext cx="5486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423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400" dirty="0"/>
          </a:p>
        </p:txBody>
      </p:sp>
      <p:sp>
        <p:nvSpPr>
          <p:cNvPr id="29" name="Text 26"/>
          <p:cNvSpPr/>
          <p:nvPr/>
        </p:nvSpPr>
        <p:spPr>
          <a:xfrm>
            <a:off x="10515600" y="3063240"/>
            <a:ext cx="10972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30" dirty="0">
                <a:solidFill>
                  <a:srgbClr val="171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review: GO/NO-GO</a:t>
            </a:r>
            <a:endParaRPr lang="en-US" sz="1030" dirty="0"/>
          </a:p>
        </p:txBody>
      </p:sp>
      <p:sp>
        <p:nvSpPr>
          <p:cNvPr id="30" name="Shape 27"/>
          <p:cNvSpPr/>
          <p:nvPr/>
        </p:nvSpPr>
        <p:spPr>
          <a:xfrm>
            <a:off x="1371600" y="507492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546336" y="5074920"/>
            <a:ext cx="54864" cy="594360"/>
          </a:xfrm>
          <a:prstGeom prst="rect">
            <a:avLst/>
          </a:prstGeom>
          <a:solidFill>
            <a:srgbClr val="077381"/>
          </a:solidFill>
          <a:ln w="12700">
            <a:solidFill>
              <a:srgbClr val="07738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508760" y="5166360"/>
            <a:ext cx="8001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71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الهدف ليس كتابة عرض بسرعة؛ الهدف تحويل HOLD إلى قرار موثوق قبل تحمل تكلفة العرض الكامل.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Rubix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RFP Summary — Host-Native Artifact Draft</dc:title>
  <dc:subject>REDF Innovation Digital Culture RFP Summary</dc:subject>
  <dc:creator>Rashad OS v7.2 Host-Native</dc:creator>
  <cp:lastModifiedBy>Rashad OS v7.2 Host-Native</cp:lastModifiedBy>
  <cp:revision>1</cp:revision>
  <dcterms:created xsi:type="dcterms:W3CDTF">2026-08-16T22:22:27Z</dcterms:created>
  <dcterms:modified xsi:type="dcterms:W3CDTF">2026-08-16T22:22:27Z</dcterms:modified>
</cp:coreProperties>
</file>